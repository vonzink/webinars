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18.xml"/><Relationship Id="rId4" Type="http://schemas.openxmlformats.org/officeDocument/2006/relationships/slide" Target="slide19.xml"/><Relationship Id="rId5" Type="http://schemas.openxmlformats.org/officeDocument/2006/relationships/slide" Target="slide20.xml"/><Relationship Id="rId6" Type="http://schemas.openxmlformats.org/officeDocument/2006/relationships/slide" Target="slide21.xml"/><Relationship Id="rId7" Type="http://schemas.openxmlformats.org/officeDocument/2006/relationships/slide" Target="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23.xml"/><Relationship Id="rId4" Type="http://schemas.openxmlformats.org/officeDocument/2006/relationships/slide" Target="slide24.xml"/><Relationship Id="rId5" Type="http://schemas.openxmlformats.org/officeDocument/2006/relationships/slide" Target="slide25.xml"/><Relationship Id="rId6" Type="http://schemas.openxmlformats.org/officeDocument/2006/relationships/slide" Target="slide26.xml"/><Relationship Id="rId7" Type="http://schemas.openxmlformats.org/officeDocument/2006/relationships/slide" Target="slide2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28.xml"/><Relationship Id="rId4" Type="http://schemas.openxmlformats.org/officeDocument/2006/relationships/slide" Target="slide29.xml"/><Relationship Id="rId5" Type="http://schemas.openxmlformats.org/officeDocument/2006/relationships/slide" Target="slide30.xml"/><Relationship Id="rId6" Type="http://schemas.openxmlformats.org/officeDocument/2006/relationships/slide" Target="slide31.xml"/><Relationship Id="rId7" Type="http://schemas.openxmlformats.org/officeDocument/2006/relationships/slide" Target="slide32.xml"/><Relationship Id="rId8" Type="http://schemas.openxmlformats.org/officeDocument/2006/relationships/slide" Target="slide3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34.xml"/><Relationship Id="rId4" Type="http://schemas.openxmlformats.org/officeDocument/2006/relationships/slide" Target="slide35.xml"/><Relationship Id="rId5" Type="http://schemas.openxmlformats.org/officeDocument/2006/relationships/slide" Target="slide36.xml"/><Relationship Id="rId6" Type="http://schemas.openxmlformats.org/officeDocument/2006/relationships/slide" Target="slide41.xml"/><Relationship Id="rId7" Type="http://schemas.openxmlformats.org/officeDocument/2006/relationships/slide" Target="slide37.xml"/><Relationship Id="rId8" Type="http://schemas.openxmlformats.org/officeDocument/2006/relationships/slide" Target="slide38.xml"/><Relationship Id="rId9" Type="http://schemas.openxmlformats.org/officeDocument/2006/relationships/slide" Target="slide39.xml"/><Relationship Id="rId10" Type="http://schemas.openxmlformats.org/officeDocument/2006/relationships/slide" Target="slide4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42.xml"/><Relationship Id="rId4" Type="http://schemas.openxmlformats.org/officeDocument/2006/relationships/slide" Target="slide43.xml"/><Relationship Id="rId5" Type="http://schemas.openxmlformats.org/officeDocument/2006/relationships/slide" Target="slide44.xml"/><Relationship Id="rId6" Type="http://schemas.openxmlformats.org/officeDocument/2006/relationships/slide" Target="slide45.xml"/><Relationship Id="rId7" Type="http://schemas.openxmlformats.org/officeDocument/2006/relationships/slide" Target="slide46.xml"/><Relationship Id="rId8" Type="http://schemas.openxmlformats.org/officeDocument/2006/relationships/slide" Target="slide4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333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th-ange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2812" y="0"/>
            <a:ext cx="6858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492812" y="0"/>
            <a:ext cx="4698883" cy="685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584" y="571485"/>
            <a:ext cx="8889777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400">
                <a:solidFill>
                  <a:srgbClr val="8CC63E"/>
                </a:solidFill>
                <a:latin typeface="Montserrat"/>
              </a:rPr>
              <a:t>THE HOMEBUYER'S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1015973"/>
            <a:ext cx="10972527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ontserrat"/>
              </a:rPr>
              <a:t>Buying your first home, explained.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84" y="3301916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584" y="3746405"/>
            <a:ext cx="6349841" cy="1904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Montserrat"/>
              </a:rPr>
              <a:t>Seth Angell</a:t>
            </a:r>
          </a:p>
          <a:p>
            <a:pPr algn="l">
              <a:spcBef>
                <a:spcPts val="200"/>
              </a:spcBef>
              <a:spcAft>
                <a:spcPts val="1800"/>
              </a:spcAft>
            </a:pPr>
            <a:r>
              <a:rPr sz="1400" b="0">
                <a:solidFill>
                  <a:srgbClr val="D6DEDA"/>
                </a:solidFill>
                <a:latin typeface="Open Sans"/>
              </a:rPr>
              <a:t>Executive VP · NMLS# 912881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b="1" sz="1100">
                <a:solidFill>
                  <a:srgbClr val="8CC63E"/>
                </a:solidFill>
                <a:latin typeface="Montserrat"/>
              </a:rPr>
              <a:t>CALL   </a:t>
            </a:r>
            <a:r>
              <a:rPr sz="1500">
                <a:solidFill>
                  <a:srgbClr val="FFFFFF"/>
                </a:solidFill>
                <a:latin typeface="Open Sans"/>
              </a:rPr>
              <a:t>[ PHONE ]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b="1" sz="1100">
                <a:solidFill>
                  <a:srgbClr val="8CC63E"/>
                </a:solidFill>
                <a:latin typeface="Montserrat"/>
              </a:rPr>
              <a:t>EMAIL   </a:t>
            </a:r>
            <a:r>
              <a:rPr sz="1500">
                <a:solidFill>
                  <a:srgbClr val="FFFFFF"/>
                </a:solidFill>
                <a:latin typeface="Open Sans"/>
              </a:rPr>
              <a:t>info@msfgmortgage.com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b="1" sz="1100">
                <a:solidFill>
                  <a:srgbClr val="8CC63E"/>
                </a:solidFill>
                <a:latin typeface="Montserrat"/>
              </a:rPr>
              <a:t>WEB   </a:t>
            </a:r>
            <a:r>
              <a:rPr sz="1500">
                <a:solidFill>
                  <a:srgbClr val="FFFFFF"/>
                </a:solidFill>
                <a:latin typeface="Open Sans"/>
              </a:rPr>
              <a:t>msfg.us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584" y="5651531"/>
            <a:ext cx="10972527" cy="9525"/>
          </a:xfrm>
          <a:prstGeom prst="rect">
            <a:avLst/>
          </a:prstGeom>
          <a:solidFill>
            <a:srgbClr val="2A4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584" y="5791227"/>
            <a:ext cx="1904952" cy="71118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-horizon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280" y="5905524"/>
            <a:ext cx="1162867" cy="48258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62302" y="5842026"/>
            <a:ext cx="7619809" cy="634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A9B6B1"/>
                </a:solidFill>
                <a:latin typeface="Open Sans"/>
              </a:rPr>
              <a:t>Mountain State Financial Group, LLC · NMLS# 1314257 · msfg.us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6B1"/>
                </a:solidFill>
                <a:latin typeface="Open Sans"/>
              </a:rPr>
              <a:t>Licensed in CO, ND, SD, MN, MI, IL, TX · Equal Housing Lender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571485"/>
            <a:ext cx="10972527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C3335"/>
                </a:solidFill>
                <a:latin typeface="Montserrat"/>
              </a:rPr>
              <a:t>Myths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584" y="1269967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584" y="1485861"/>
            <a:ext cx="8254793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6A7370"/>
                </a:solidFill>
                <a:latin typeface="Open Sans"/>
              </a:rPr>
              <a:t>The stories that keep good buyers renting. Tap any 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584" y="2247841"/>
            <a:ext cx="50798" cy="1111222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3"/>
          </p:cNvPr>
          <p:cNvSpPr/>
          <p:nvPr/>
        </p:nvSpPr>
        <p:spPr>
          <a:xfrm>
            <a:off x="660382" y="2247841"/>
            <a:ext cx="3488181" cy="111122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495" rIns="190495" tIns="177795" bIns="126996"/>
          <a:lstStyle/>
          <a:p>
            <a:pPr algn="l"/>
            <a:r>
              <a:rPr sz="1700" b="1">
                <a:solidFill>
                  <a:srgbClr val="0C3335"/>
                </a:solidFill>
                <a:latin typeface="Montserrat"/>
              </a:rPr>
              <a:t>You need 20% down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92972" y="2362138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C3335"/>
                </a:solidFill>
                <a:latin typeface="Montserrat"/>
              </a:rPr>
              <a:t>+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6358" y="2247841"/>
            <a:ext cx="50798" cy="1111222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action="ppaction://hlinksldjump" r:id="rId4"/>
          </p:cNvPr>
          <p:cNvSpPr/>
          <p:nvPr/>
        </p:nvSpPr>
        <p:spPr>
          <a:xfrm>
            <a:off x="4377156" y="2247841"/>
            <a:ext cx="3488181" cy="111122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495" rIns="190495" tIns="177795" bIns="126996"/>
          <a:lstStyle/>
          <a:p>
            <a:pPr algn="l"/>
            <a:r>
              <a:rPr sz="1700" b="1">
                <a:solidFill>
                  <a:srgbClr val="0C3335"/>
                </a:solidFill>
                <a:latin typeface="Montserrat"/>
              </a:rPr>
              <a:t>FHA is only for first-time buyers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09746" y="2362138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C3335"/>
                </a:solidFill>
                <a:latin typeface="Montserrat"/>
              </a:rPr>
              <a:t>+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3132" y="2247841"/>
            <a:ext cx="50798" cy="1111222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>
            <a:hlinkClick action="ppaction://hlinksldjump" r:id="rId5"/>
          </p:cNvPr>
          <p:cNvSpPr/>
          <p:nvPr/>
        </p:nvSpPr>
        <p:spPr>
          <a:xfrm>
            <a:off x="8093930" y="2247841"/>
            <a:ext cx="3488181" cy="111122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495" rIns="190495" tIns="177795" bIns="126996"/>
          <a:lstStyle/>
          <a:p>
            <a:pPr algn="l"/>
            <a:r>
              <a:rPr sz="1700" b="1">
                <a:solidFill>
                  <a:srgbClr val="0C3335"/>
                </a:solidFill>
                <a:latin typeface="Montserrat"/>
              </a:rPr>
              <a:t>You need perfect credit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26520" y="2362138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C3335"/>
                </a:solidFill>
                <a:latin typeface="Montserrat"/>
              </a:rPr>
              <a:t>+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584" y="3536858"/>
            <a:ext cx="50798" cy="1111222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>
            <a:hlinkClick action="ppaction://hlinksldjump" r:id="rId6"/>
          </p:cNvPr>
          <p:cNvSpPr/>
          <p:nvPr/>
        </p:nvSpPr>
        <p:spPr>
          <a:xfrm>
            <a:off x="660382" y="3536858"/>
            <a:ext cx="3488181" cy="111122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495" rIns="190495" tIns="177795" bIns="126996"/>
          <a:lstStyle/>
          <a:p>
            <a:pPr algn="l"/>
            <a:r>
              <a:rPr sz="1700" b="1">
                <a:solidFill>
                  <a:srgbClr val="0C3335"/>
                </a:solidFill>
                <a:latin typeface="Montserrat"/>
              </a:rPr>
              <a:t>Renting is always cheaper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2972" y="3651155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C3335"/>
                </a:solidFill>
                <a:latin typeface="Montserrat"/>
              </a:rPr>
              <a:t>+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6358" y="3536858"/>
            <a:ext cx="50798" cy="1111222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>
            <a:hlinkClick action="ppaction://hlinksldjump" r:id="rId7"/>
          </p:cNvPr>
          <p:cNvSpPr/>
          <p:nvPr/>
        </p:nvSpPr>
        <p:spPr>
          <a:xfrm>
            <a:off x="4377156" y="3536858"/>
            <a:ext cx="3488181" cy="111122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495" rIns="190495" tIns="177795" bIns="126996"/>
          <a:lstStyle/>
          <a:p>
            <a:pPr algn="l"/>
            <a:r>
              <a:rPr sz="1700" b="1">
                <a:solidFill>
                  <a:srgbClr val="0C3335"/>
                </a:solidFill>
                <a:latin typeface="Montserrat"/>
              </a:rPr>
              <a:t>The lowest rate is the best deal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09746" y="3651155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C3335"/>
                </a:solidFill>
                <a:latin typeface="Montserrat"/>
              </a:rPr>
              <a:t>+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584" y="5651531"/>
            <a:ext cx="10972527" cy="9525"/>
          </a:xfrm>
          <a:prstGeom prst="rect">
            <a:avLst/>
          </a:prstGeom>
          <a:solidFill>
            <a:srgbClr val="DDE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9584" y="5791227"/>
            <a:ext cx="1904952" cy="71118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280" y="5905524"/>
            <a:ext cx="1162867" cy="48258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962302" y="5842026"/>
            <a:ext cx="7619809" cy="634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6A7370"/>
                </a:solidFill>
                <a:latin typeface="Open Sans"/>
              </a:rPr>
              <a:t>Mountain State Financial Group, LLC · NMLS# 1314257 · msfg.us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A7370"/>
                </a:solidFill>
                <a:latin typeface="Open Sans"/>
              </a:rPr>
              <a:t>Licensed in CO, ND, SD, MN, MI, IL, TX · Equal Housing Lender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33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571485"/>
            <a:ext cx="8889777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400">
                <a:solidFill>
                  <a:srgbClr val="8CC63E"/>
                </a:solidFill>
                <a:latin typeface="Montserrat"/>
              </a:rPr>
              <a:t>THE MYTH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939775"/>
            <a:ext cx="10972527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Montserrat"/>
              </a:rPr>
              <a:t>The lowest rate is the best deal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638257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1854151"/>
            <a:ext cx="8254793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D6DEDA"/>
                </a:solidFill>
                <a:latin typeface="Open Sans"/>
              </a:rPr>
              <a:t>The rate is one number. Closing costs quietly move the one that actually compares loans — the APR.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584" y="2679629"/>
            <a:ext cx="9524761" cy="3174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CC63E"/>
                </a:solidFill>
                <a:latin typeface="Open Sans"/>
              </a:rPr>
              <a:t>■  </a:t>
            </a:r>
            <a:r>
              <a:rPr sz="1500" b="0">
                <a:solidFill>
                  <a:srgbClr val="D6DEDA"/>
                </a:solidFill>
                <a:latin typeface="Open Sans"/>
              </a:rPr>
              <a:t>A lower rate is often </a:t>
            </a:r>
            <a:r>
              <a:rPr sz="1500" b="1">
                <a:solidFill>
                  <a:srgbClr val="D6DEDA"/>
                </a:solidFill>
                <a:latin typeface="Open Sans"/>
              </a:rPr>
              <a:t>bought</a:t>
            </a:r>
            <a:r>
              <a:rPr sz="1500" b="0">
                <a:solidFill>
                  <a:srgbClr val="D6DEDA"/>
                </a:solidFill>
                <a:latin typeface="Open Sans"/>
              </a:rPr>
              <a:t> with points and fees paid at closing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>
                <a:solidFill>
                  <a:srgbClr val="8CC63E"/>
                </a:solidFill>
                <a:latin typeface="Open Sans"/>
              </a:rPr>
              <a:t>■  </a:t>
            </a:r>
            <a:r>
              <a:rPr sz="1500" b="1">
                <a:solidFill>
                  <a:srgbClr val="D6DEDA"/>
                </a:solidFill>
                <a:latin typeface="Open Sans"/>
              </a:rPr>
              <a:t>APR folds those costs back in</a:t>
            </a:r>
            <a:r>
              <a:rPr sz="1500" b="0">
                <a:solidFill>
                  <a:srgbClr val="D6DEDA"/>
                </a:solidFill>
                <a:latin typeface="Open Sans"/>
              </a:rPr>
              <a:t> — the rate plus certain lender charges over the life of the loan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>
                <a:solidFill>
                  <a:srgbClr val="8CC63E"/>
                </a:solidFill>
                <a:latin typeface="Open Sans"/>
              </a:rPr>
              <a:t>■  </a:t>
            </a:r>
            <a:r>
              <a:rPr sz="1500" b="0">
                <a:solidFill>
                  <a:srgbClr val="D6DEDA"/>
                </a:solidFill>
                <a:latin typeface="Open Sans"/>
              </a:rPr>
              <a:t>Two loans at the same rate can have very different closing costs, and very different APRs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>
                <a:solidFill>
                  <a:srgbClr val="8CC63E"/>
                </a:solidFill>
                <a:latin typeface="Open Sans"/>
              </a:rPr>
              <a:t>■  </a:t>
            </a:r>
            <a:r>
              <a:rPr sz="1500" b="0">
                <a:solidFill>
                  <a:srgbClr val="D6DEDA"/>
                </a:solidFill>
                <a:latin typeface="Open Sans"/>
              </a:rPr>
              <a:t>Where lenders really differ is </a:t>
            </a:r>
            <a:r>
              <a:rPr sz="1500" b="1">
                <a:solidFill>
                  <a:srgbClr val="D6DEDA"/>
                </a:solidFill>
                <a:latin typeface="Open Sans"/>
              </a:rPr>
              <a:t>origination and fees</a:t>
            </a:r>
            <a:r>
              <a:rPr sz="1500" b="0">
                <a:solidFill>
                  <a:srgbClr val="D6DEDA"/>
                </a:solidFill>
                <a:latin typeface="Open Sans"/>
              </a:rPr>
              <a:t> — not the headline rate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584" y="4762553"/>
            <a:ext cx="9524761" cy="571485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3993"/>
          <a:lstStyle/>
          <a:p>
            <a:pPr algn="l"/>
            <a:r>
              <a:rPr sz="1600" b="1">
                <a:solidFill>
                  <a:srgbClr val="0C3335"/>
                </a:solidFill>
                <a:latin typeface="Montserrat"/>
              </a:rPr>
              <a:t>Ask for rate AND total cost. Compare Loan Estimates from the same day.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584" y="5651531"/>
            <a:ext cx="10972527" cy="9525"/>
          </a:xfrm>
          <a:prstGeom prst="rect">
            <a:avLst/>
          </a:prstGeom>
          <a:solidFill>
            <a:srgbClr val="2A4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584" y="5791227"/>
            <a:ext cx="1904952" cy="71118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280" y="5905524"/>
            <a:ext cx="1162867" cy="48258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62302" y="5842026"/>
            <a:ext cx="7619809" cy="634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A9B6B1"/>
                </a:solidFill>
                <a:latin typeface="Open Sans"/>
              </a:rPr>
              <a:t>Mountain State Financial Group, LLC · NMLS# 1314257 · msfg.us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6B1"/>
                </a:solidFill>
                <a:latin typeface="Open Sans"/>
              </a:rPr>
              <a:t>Licensed in CO, ND, SD, MN, MI, IL, TX · Equal Housing Lender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33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6858000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584" y="888977"/>
            <a:ext cx="4952876" cy="3174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4B7B4D"/>
                </a:solidFill>
                <a:latin typeface="Montserrat"/>
              </a:rPr>
              <a:t>BUDGET</a:t>
            </a:r>
          </a:p>
          <a:p>
            <a:pPr algn="l">
              <a:spcBef>
                <a:spcPts val="2000"/>
              </a:spcBef>
              <a:spcAft>
                <a:spcPts val="2400"/>
              </a:spcAft>
            </a:pPr>
            <a:r>
              <a:rPr sz="2700" b="1">
                <a:solidFill>
                  <a:srgbClr val="0C3335"/>
                </a:solidFill>
                <a:latin typeface="Montserrat"/>
              </a:rPr>
              <a:t>Renting</a:t>
            </a:r>
          </a:p>
          <a:p>
            <a:pPr algn="l">
              <a:spcBef>
                <a:spcPts val="0"/>
              </a:spcBef>
              <a:spcAft>
                <a:spcPts val="1800"/>
              </a:spcAft>
            </a:pPr>
            <a:r>
              <a:rPr sz="1500">
                <a:solidFill>
                  <a:srgbClr val="8CC63E"/>
                </a:solidFill>
                <a:latin typeface="Open Sans"/>
              </a:rPr>
              <a:t>■  </a:t>
            </a:r>
            <a:r>
              <a:rPr sz="1500" b="0">
                <a:solidFill>
                  <a:srgbClr val="404041"/>
                </a:solidFill>
                <a:latin typeface="Open Sans"/>
              </a:rPr>
              <a:t>Rent in Denver has trended </a:t>
            </a:r>
            <a:r>
              <a:rPr sz="1500" b="1">
                <a:solidFill>
                  <a:srgbClr val="404041"/>
                </a:solidFill>
                <a:latin typeface="Open Sans"/>
              </a:rPr>
              <a:t>up</a:t>
            </a:r>
            <a:r>
              <a:rPr sz="1500" b="0">
                <a:solidFill>
                  <a:srgbClr val="404041"/>
                </a:solidFill>
                <a:latin typeface="Open Sans"/>
              </a:rPr>
              <a:t>, year after year</a:t>
            </a:r>
          </a:p>
          <a:p>
            <a:pPr algn="l">
              <a:spcBef>
                <a:spcPts val="0"/>
              </a:spcBef>
              <a:spcAft>
                <a:spcPts val="1800"/>
              </a:spcAft>
            </a:pPr>
            <a:r>
              <a:rPr sz="1500">
                <a:solidFill>
                  <a:srgbClr val="8CC63E"/>
                </a:solidFill>
                <a:latin typeface="Open Sans"/>
              </a:rPr>
              <a:t>■  </a:t>
            </a:r>
            <a:r>
              <a:rPr sz="1500" b="0">
                <a:solidFill>
                  <a:srgbClr val="404041"/>
                </a:solidFill>
                <a:latin typeface="Open Sans"/>
              </a:rPr>
              <a:t>Flexible — but every payment builds someone else’s equity</a:t>
            </a:r>
          </a:p>
          <a:p>
            <a:pPr algn="l">
              <a:spcBef>
                <a:spcPts val="0"/>
              </a:spcBef>
              <a:spcAft>
                <a:spcPts val="1800"/>
              </a:spcAft>
            </a:pPr>
            <a:r>
              <a:rPr sz="1500">
                <a:solidFill>
                  <a:srgbClr val="8CC63E"/>
                </a:solidFill>
                <a:latin typeface="Open Sans"/>
              </a:rPr>
              <a:t>■  </a:t>
            </a:r>
            <a:r>
              <a:rPr sz="1500" b="0">
                <a:solidFill>
                  <a:srgbClr val="404041"/>
                </a:solidFill>
                <a:latin typeface="Open Sans"/>
              </a:rPr>
              <a:t>The longer you wait, the </a:t>
            </a:r>
            <a:r>
              <a:rPr sz="1500" b="1">
                <a:solidFill>
                  <a:srgbClr val="404041"/>
                </a:solidFill>
                <a:latin typeface="Open Sans"/>
              </a:rPr>
              <a:t>further ahead prices 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29233" y="1396965"/>
            <a:ext cx="4952876" cy="3174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Montserrat"/>
              </a:rPr>
              <a:t>Buying</a:t>
            </a:r>
          </a:p>
          <a:p>
            <a:pPr algn="l">
              <a:spcBef>
                <a:spcPts val="0"/>
              </a:spcBef>
              <a:spcAft>
                <a:spcPts val="1800"/>
              </a:spcAft>
            </a:pPr>
            <a:r>
              <a:rPr sz="1500">
                <a:solidFill>
                  <a:srgbClr val="8CC63E"/>
                </a:solidFill>
                <a:latin typeface="Open Sans"/>
              </a:rPr>
              <a:t>■  </a:t>
            </a:r>
            <a:r>
              <a:rPr sz="1500" b="0">
                <a:solidFill>
                  <a:srgbClr val="D6DEDA"/>
                </a:solidFill>
                <a:latin typeface="Open Sans"/>
              </a:rPr>
              <a:t>A fixed payment while </a:t>
            </a:r>
            <a:r>
              <a:rPr sz="1500" b="1">
                <a:solidFill>
                  <a:srgbClr val="D6DEDA"/>
                </a:solidFill>
                <a:latin typeface="Open Sans"/>
              </a:rPr>
              <a:t>home values generally appreciate</a:t>
            </a:r>
          </a:p>
          <a:p>
            <a:pPr algn="l">
              <a:spcBef>
                <a:spcPts val="0"/>
              </a:spcBef>
              <a:spcAft>
                <a:spcPts val="1800"/>
              </a:spcAft>
            </a:pPr>
            <a:r>
              <a:rPr sz="1500">
                <a:solidFill>
                  <a:srgbClr val="8CC63E"/>
                </a:solidFill>
                <a:latin typeface="Open Sans"/>
              </a:rPr>
              <a:t>■  </a:t>
            </a:r>
            <a:r>
              <a:rPr sz="1500" b="0">
                <a:solidFill>
                  <a:srgbClr val="D6DEDA"/>
                </a:solidFill>
                <a:latin typeface="Open Sans"/>
              </a:rPr>
              <a:t>Equity compounds; you’re paying yourself</a:t>
            </a:r>
          </a:p>
          <a:p>
            <a:pPr algn="l">
              <a:spcBef>
                <a:spcPts val="0"/>
              </a:spcBef>
              <a:spcAft>
                <a:spcPts val="1800"/>
              </a:spcAft>
            </a:pPr>
            <a:r>
              <a:rPr sz="1500">
                <a:solidFill>
                  <a:srgbClr val="8CC63E"/>
                </a:solidFill>
                <a:latin typeface="Open Sans"/>
              </a:rPr>
              <a:t>■  </a:t>
            </a:r>
            <a:r>
              <a:rPr sz="1500" b="0">
                <a:solidFill>
                  <a:srgbClr val="D6DEDA"/>
                </a:solidFill>
                <a:latin typeface="Open Sans"/>
              </a:rPr>
              <a:t>Most people </a:t>
            </a:r>
            <a:r>
              <a:rPr sz="1500" b="1">
                <a:solidFill>
                  <a:srgbClr val="D6DEDA"/>
                </a:solidFill>
                <a:latin typeface="Open Sans"/>
              </a:rPr>
              <a:t>step up</a:t>
            </a:r>
            <a:r>
              <a:rPr sz="1500" b="0">
                <a:solidFill>
                  <a:srgbClr val="D6DEDA"/>
                </a:solidFill>
                <a:latin typeface="Open Sans"/>
              </a:rPr>
              <a:t> — the first home isn’t the last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0927" y="5524534"/>
            <a:ext cx="6349841" cy="571485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C3335"/>
                </a:solidFill>
                <a:latin typeface="Montserrat"/>
              </a:rPr>
              <a:t>Waiting isn’t neutral. It usually costs something.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571485"/>
            <a:ext cx="8889777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400">
                <a:solidFill>
                  <a:srgbClr val="4B7B4D"/>
                </a:solidFill>
                <a:latin typeface="Montserrat"/>
              </a:rPr>
              <a:t>BUDGET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939775"/>
            <a:ext cx="10972527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C3335"/>
                </a:solidFill>
                <a:latin typeface="Montserrat"/>
              </a:rPr>
              <a:t>What's actually in the payment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638257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1854151"/>
            <a:ext cx="8254793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6A7370"/>
                </a:solidFill>
                <a:latin typeface="Open Sans"/>
              </a:rPr>
              <a:t>On a fixed-rate loan — what’s locked, and what can still move.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84" y="2616131"/>
            <a:ext cx="2000199" cy="571485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584" y="3238414"/>
            <a:ext cx="200019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1"/>
                </a:solidFill>
                <a:latin typeface="Montserrat"/>
              </a:rPr>
              <a:t>Principal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9783" y="2616131"/>
            <a:ext cx="2857428" cy="571485"/>
          </a:xfrm>
          <a:prstGeom prst="rect">
            <a:avLst/>
          </a:prstGeom>
          <a:solidFill>
            <a:srgbClr val="144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9783" y="3238414"/>
            <a:ext cx="2857428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1"/>
                </a:solidFill>
                <a:latin typeface="Montserrat"/>
              </a:rPr>
              <a:t>Interest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67212" y="2616131"/>
            <a:ext cx="1619209" cy="571485"/>
          </a:xfrm>
          <a:prstGeom prst="rect">
            <a:avLst/>
          </a:prstGeom>
          <a:solidFill>
            <a:srgbClr val="4B7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67212" y="3238414"/>
            <a:ext cx="161920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1"/>
                </a:solidFill>
                <a:latin typeface="Montserrat"/>
              </a:rPr>
              <a:t>Taxes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86421" y="2616131"/>
            <a:ext cx="1142971" cy="571485"/>
          </a:xfrm>
          <a:prstGeom prst="rect">
            <a:avLst/>
          </a:prstGeom>
          <a:solidFill>
            <a:srgbClr val="8FA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86421" y="3238414"/>
            <a:ext cx="1142971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1"/>
                </a:solidFill>
                <a:latin typeface="Montserrat"/>
              </a:rPr>
              <a:t>Insurance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392" y="2616131"/>
            <a:ext cx="1047723" cy="571485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392" y="3238414"/>
            <a:ext cx="1047723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1"/>
                </a:solidFill>
                <a:latin typeface="Montserrat"/>
              </a:rPr>
              <a:t>Mortgage ins.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77116" y="2616131"/>
            <a:ext cx="857228" cy="571485"/>
          </a:xfrm>
          <a:prstGeom prst="rect">
            <a:avLst/>
          </a:prstGeom>
          <a:solidFill>
            <a:srgbClr val="404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77116" y="3238414"/>
            <a:ext cx="857228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1"/>
                </a:solidFill>
                <a:latin typeface="Montserrat"/>
              </a:rPr>
              <a:t>HOA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584" y="3759101"/>
            <a:ext cx="4571885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C3335"/>
                </a:solidFill>
                <a:latin typeface="Montserrat"/>
              </a:rPr>
              <a:t>What's locked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584" y="4076593"/>
            <a:ext cx="4571885" cy="28575"/>
          </a:xfrm>
          <a:prstGeom prst="rect">
            <a:avLst/>
          </a:prstGeom>
          <a:solidFill>
            <a:srgbClr val="4B7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584" y="4216289"/>
            <a:ext cx="4571885" cy="1587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8CC63E"/>
                </a:solidFill>
                <a:latin typeface="Open Sans"/>
              </a:rPr>
              <a:t>■  </a:t>
            </a:r>
            <a:r>
              <a:rPr sz="1200" b="0">
                <a:solidFill>
                  <a:srgbClr val="404041"/>
                </a:solidFill>
                <a:latin typeface="Open Sans"/>
              </a:rPr>
              <a:t>Your interest rate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8CC63E"/>
                </a:solidFill>
                <a:latin typeface="Open Sans"/>
              </a:rPr>
              <a:t>■  </a:t>
            </a:r>
            <a:r>
              <a:rPr sz="1200" b="0">
                <a:solidFill>
                  <a:srgbClr val="404041"/>
                </a:solidFill>
                <a:latin typeface="Open Sans"/>
              </a:rPr>
              <a:t>Your principal &amp; interest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8CC63E"/>
                </a:solidFill>
                <a:latin typeface="Open Sans"/>
              </a:rPr>
              <a:t>■  </a:t>
            </a:r>
            <a:r>
              <a:rPr sz="1200" b="0">
                <a:solidFill>
                  <a:srgbClr val="404041"/>
                </a:solidFill>
                <a:latin typeface="Open Sans"/>
              </a:rPr>
              <a:t>Your loan term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62459" y="3759101"/>
            <a:ext cx="4571885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C3335"/>
                </a:solidFill>
                <a:latin typeface="Montserrat"/>
              </a:rPr>
              <a:t>What can still move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62459" y="4076593"/>
            <a:ext cx="4571885" cy="28575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62459" y="4216289"/>
            <a:ext cx="4571885" cy="1587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8CC63E"/>
                </a:solidFill>
                <a:latin typeface="Open Sans"/>
              </a:rPr>
              <a:t>■  </a:t>
            </a:r>
            <a:r>
              <a:rPr sz="1200" b="0">
                <a:solidFill>
                  <a:srgbClr val="404041"/>
                </a:solidFill>
                <a:latin typeface="Open Sans"/>
              </a:rPr>
              <a:t>Property taxes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8CC63E"/>
                </a:solidFill>
                <a:latin typeface="Open Sans"/>
              </a:rPr>
              <a:t>■  </a:t>
            </a:r>
            <a:r>
              <a:rPr sz="1200" b="0">
                <a:solidFill>
                  <a:srgbClr val="404041"/>
                </a:solidFill>
                <a:latin typeface="Open Sans"/>
              </a:rPr>
              <a:t>Insurance premiums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8CC63E"/>
                </a:solidFill>
                <a:latin typeface="Open Sans"/>
              </a:rPr>
              <a:t>■  </a:t>
            </a:r>
            <a:r>
              <a:rPr sz="1200" b="0">
                <a:solidFill>
                  <a:srgbClr val="404041"/>
                </a:solidFill>
                <a:latin typeface="Open Sans"/>
              </a:rPr>
              <a:t>Mortgage insurance (it can come off)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8CC63E"/>
                </a:solidFill>
                <a:latin typeface="Open Sans"/>
              </a:rPr>
              <a:t>■  </a:t>
            </a:r>
            <a:r>
              <a:rPr sz="1200" b="0">
                <a:solidFill>
                  <a:srgbClr val="404041"/>
                </a:solidFill>
                <a:latin typeface="Open Sans"/>
              </a:rPr>
              <a:t>HOA dues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8CC63E"/>
                </a:solidFill>
                <a:latin typeface="Open Sans"/>
              </a:rPr>
              <a:t>■  </a:t>
            </a:r>
            <a:r>
              <a:rPr sz="1200" b="0">
                <a:solidFill>
                  <a:srgbClr val="404041"/>
                </a:solidFill>
                <a:latin typeface="Open Sans"/>
              </a:rPr>
              <a:t>A special assessment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584" y="4826051"/>
            <a:ext cx="3513579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>
                <a:solidFill>
                  <a:srgbClr val="8CC63E"/>
                </a:solidFill>
                <a:latin typeface="Open Sans"/>
              </a:rPr>
              <a:t>■  </a:t>
            </a:r>
            <a:r>
              <a:rPr sz="1150" b="1">
                <a:solidFill>
                  <a:srgbClr val="404041"/>
                </a:solidFill>
                <a:latin typeface="Open Sans"/>
              </a:rPr>
              <a:t>Escrow</a:t>
            </a:r>
            <a:r>
              <a:rPr sz="1150" b="0">
                <a:solidFill>
                  <a:srgbClr val="404041"/>
                </a:solidFill>
                <a:latin typeface="Open Sans"/>
              </a:rPr>
              <a:t> collects taxes and insurance monthly and pays them for you — not a fee, your money held early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39057" y="4826051"/>
            <a:ext cx="3513579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>
                <a:solidFill>
                  <a:srgbClr val="8CC63E"/>
                </a:solidFill>
                <a:latin typeface="Open Sans"/>
              </a:rPr>
              <a:t>■  </a:t>
            </a:r>
            <a:r>
              <a:rPr sz="1150" b="1">
                <a:solidFill>
                  <a:srgbClr val="404041"/>
                </a:solidFill>
                <a:latin typeface="Open Sans"/>
              </a:rPr>
              <a:t>Amortization:</a:t>
            </a:r>
            <a:r>
              <a:rPr sz="1150" b="0">
                <a:solidFill>
                  <a:srgbClr val="404041"/>
                </a:solidFill>
                <a:latin typeface="Open Sans"/>
              </a:rPr>
              <a:t> early payments are mostly interest; it shifts to principal over years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68530" y="4826051"/>
            <a:ext cx="3513579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>
                <a:solidFill>
                  <a:srgbClr val="8CC63E"/>
                </a:solidFill>
                <a:latin typeface="Open Sans"/>
              </a:rPr>
              <a:t>■  </a:t>
            </a:r>
            <a:r>
              <a:rPr sz="1150" b="1">
                <a:solidFill>
                  <a:srgbClr val="404041"/>
                </a:solidFill>
                <a:latin typeface="Open Sans"/>
              </a:rPr>
              <a:t>Refinancing resets the clock</a:t>
            </a:r>
            <a:r>
              <a:rPr sz="1150" b="0">
                <a:solidFill>
                  <a:srgbClr val="404041"/>
                </a:solidFill>
                <a:latin typeface="Open Sans"/>
              </a:rPr>
              <a:t> — a new 30-year loan starts over at the interest-heavy beginning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584" y="5651531"/>
            <a:ext cx="10972527" cy="9525"/>
          </a:xfrm>
          <a:prstGeom prst="rect">
            <a:avLst/>
          </a:prstGeom>
          <a:solidFill>
            <a:srgbClr val="DDE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9584" y="5791227"/>
            <a:ext cx="1904952" cy="71118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280" y="5905524"/>
            <a:ext cx="1162867" cy="482587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962302" y="5842026"/>
            <a:ext cx="7619809" cy="634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6A7370"/>
                </a:solidFill>
                <a:latin typeface="Open Sans"/>
              </a:rPr>
              <a:t>Mountain State Financial Group, LLC · NMLS# 1314257 · msfg.us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A7370"/>
                </a:solidFill>
                <a:latin typeface="Open Sans"/>
              </a:rPr>
              <a:t>Licensed in CO, ND, SD, MN, MI, IL, TX · Equal Housing Lender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33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571485"/>
            <a:ext cx="8889777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400">
                <a:solidFill>
                  <a:srgbClr val="8CC63E"/>
                </a:solidFill>
                <a:latin typeface="Montserrat"/>
              </a:rPr>
              <a:t>BUDGET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939775"/>
            <a:ext cx="10972527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ontserrat"/>
              </a:rPr>
              <a:t>Keep the payment in your comfort zone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892251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2108145"/>
            <a:ext cx="8254793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D6DEDA"/>
                </a:solidFill>
                <a:latin typeface="Open Sans"/>
              </a:rPr>
              <a:t>The number you can qualify for and the number you can live with are rarely the same.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584" y="2933623"/>
            <a:ext cx="9524761" cy="3174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CC63E"/>
                </a:solidFill>
                <a:latin typeface="Open Sans"/>
              </a:rPr>
              <a:t>■  </a:t>
            </a:r>
            <a:r>
              <a:rPr sz="1500" b="0">
                <a:solidFill>
                  <a:srgbClr val="D6DEDA"/>
                </a:solidFill>
                <a:latin typeface="Open Sans"/>
              </a:rPr>
              <a:t>Don’t become </a:t>
            </a:r>
            <a:r>
              <a:rPr sz="1500" b="1">
                <a:solidFill>
                  <a:srgbClr val="D6DEDA"/>
                </a:solidFill>
                <a:latin typeface="Open Sans"/>
              </a:rPr>
              <a:t>house poor</a:t>
            </a:r>
            <a:r>
              <a:rPr sz="1500" b="0">
                <a:solidFill>
                  <a:srgbClr val="D6DEDA"/>
                </a:solidFill>
                <a:latin typeface="Open Sans"/>
              </a:rPr>
              <a:t> — the guidelines ask if you’ll repay, not if you’ll be okay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>
                <a:solidFill>
                  <a:srgbClr val="8CC63E"/>
                </a:solidFill>
                <a:latin typeface="Open Sans"/>
              </a:rPr>
              <a:t>■  </a:t>
            </a:r>
            <a:r>
              <a:rPr sz="1500" b="0">
                <a:solidFill>
                  <a:srgbClr val="D6DEDA"/>
                </a:solidFill>
                <a:latin typeface="Open Sans"/>
              </a:rPr>
              <a:t>Protect </a:t>
            </a:r>
            <a:r>
              <a:rPr sz="1500" b="1">
                <a:solidFill>
                  <a:srgbClr val="D6DEDA"/>
                </a:solidFill>
                <a:latin typeface="Open Sans"/>
              </a:rPr>
              <a:t>quality of life</a:t>
            </a:r>
            <a:r>
              <a:rPr sz="1500" b="0">
                <a:solidFill>
                  <a:srgbClr val="D6DEDA"/>
                </a:solidFill>
                <a:latin typeface="Open Sans"/>
              </a:rPr>
              <a:t> — leave room for disposable income and emergencies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>
                <a:solidFill>
                  <a:srgbClr val="8CC63E"/>
                </a:solidFill>
                <a:latin typeface="Open Sans"/>
              </a:rPr>
              <a:t>■  </a:t>
            </a:r>
            <a:r>
              <a:rPr sz="1500" b="0">
                <a:solidFill>
                  <a:srgbClr val="D6DEDA"/>
                </a:solidFill>
                <a:latin typeface="Open Sans"/>
              </a:rPr>
              <a:t>The </a:t>
            </a:r>
            <a:r>
              <a:rPr sz="1500" b="1">
                <a:solidFill>
                  <a:srgbClr val="D6DEDA"/>
                </a:solidFill>
                <a:latin typeface="Open Sans"/>
              </a:rPr>
              <a:t>payment can change</a:t>
            </a:r>
            <a:r>
              <a:rPr sz="1500" b="0">
                <a:solidFill>
                  <a:srgbClr val="D6DEDA"/>
                </a:solidFill>
                <a:latin typeface="Open Sans"/>
              </a:rPr>
              <a:t> after you close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>
                <a:solidFill>
                  <a:srgbClr val="8CC63E"/>
                </a:solidFill>
                <a:latin typeface="Open Sans"/>
              </a:rPr>
              <a:t>■  </a:t>
            </a:r>
            <a:r>
              <a:rPr sz="1500" b="0">
                <a:solidFill>
                  <a:srgbClr val="D6DEDA"/>
                </a:solidFill>
                <a:latin typeface="Open Sans"/>
              </a:rPr>
              <a:t>Builder </a:t>
            </a:r>
            <a:r>
              <a:rPr sz="1500" b="1">
                <a:solidFill>
                  <a:srgbClr val="D6DEDA"/>
                </a:solidFill>
                <a:latin typeface="Open Sans"/>
              </a:rPr>
              <a:t>incentives can create negative equity</a:t>
            </a:r>
            <a:r>
              <a:rPr sz="1500" b="0">
                <a:solidFill>
                  <a:srgbClr val="D6DEDA"/>
                </a:solidFill>
                <a:latin typeface="Open Sans"/>
              </a:rPr>
              <a:t> — dangerous for a first-time buyer who moves sooner than expected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571485"/>
            <a:ext cx="10972527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C3335"/>
                </a:solidFill>
                <a:latin typeface="Montserrat"/>
              </a:rPr>
              <a:t>Most Common Loan Programs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584" y="1269967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584" y="1485861"/>
            <a:ext cx="8254793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6A7370"/>
                </a:solidFill>
                <a:latin typeface="Open Sans"/>
              </a:rPr>
              <a:t>Five doors, different people. Tap any program for pros and cons.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584" y="2247841"/>
            <a:ext cx="50798" cy="1111222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3"/>
          </p:cNvPr>
          <p:cNvSpPr/>
          <p:nvPr/>
        </p:nvSpPr>
        <p:spPr>
          <a:xfrm>
            <a:off x="660382" y="2247841"/>
            <a:ext cx="3488181" cy="111122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495" rIns="190495" tIns="177795" bIns="126996"/>
          <a:lstStyle/>
          <a:p>
            <a:pPr algn="l"/>
            <a:r>
              <a:rPr sz="1700" b="1">
                <a:solidFill>
                  <a:srgbClr val="0C3335"/>
                </a:solidFill>
                <a:latin typeface="Montserrat"/>
              </a:rPr>
              <a:t>Conventional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404041"/>
                </a:solidFill>
                <a:latin typeface="Open Sans"/>
              </a:rPr>
              <a:t>The default for most buyers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2000" b="1">
                <a:solidFill>
                  <a:srgbClr val="4B7B4D"/>
                </a:solidFill>
                <a:latin typeface="Montserrat"/>
              </a:rPr>
              <a:t>3% down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92972" y="2362138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C3335"/>
                </a:solidFill>
                <a:latin typeface="Montserrat"/>
              </a:rPr>
              <a:t>+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6358" y="2247841"/>
            <a:ext cx="50798" cy="1111222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action="ppaction://hlinksldjump" r:id="rId4"/>
          </p:cNvPr>
          <p:cNvSpPr/>
          <p:nvPr/>
        </p:nvSpPr>
        <p:spPr>
          <a:xfrm>
            <a:off x="4377156" y="2247841"/>
            <a:ext cx="3488181" cy="111122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495" rIns="190495" tIns="177795" bIns="126996"/>
          <a:lstStyle/>
          <a:p>
            <a:pPr algn="l"/>
            <a:r>
              <a:rPr sz="1700" b="1">
                <a:solidFill>
                  <a:srgbClr val="0C3335"/>
                </a:solidFill>
                <a:latin typeface="Montserrat"/>
              </a:rPr>
              <a:t>FHA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404041"/>
                </a:solidFill>
                <a:latin typeface="Open Sans"/>
              </a:rPr>
              <a:t>Built for credit flexibility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2000" b="1">
                <a:solidFill>
                  <a:srgbClr val="4B7B4D"/>
                </a:solidFill>
                <a:latin typeface="Montserrat"/>
              </a:rPr>
              <a:t>3.5% down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09746" y="2362138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C3335"/>
                </a:solidFill>
                <a:latin typeface="Montserrat"/>
              </a:rPr>
              <a:t>+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3132" y="2247841"/>
            <a:ext cx="50798" cy="1111222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>
            <a:hlinkClick action="ppaction://hlinksldjump" r:id="rId5"/>
          </p:cNvPr>
          <p:cNvSpPr/>
          <p:nvPr/>
        </p:nvSpPr>
        <p:spPr>
          <a:xfrm>
            <a:off x="8093930" y="2247841"/>
            <a:ext cx="3488181" cy="111122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495" rIns="190495" tIns="177795" bIns="126996"/>
          <a:lstStyle/>
          <a:p>
            <a:pPr algn="l"/>
            <a:r>
              <a:rPr sz="1700" b="1">
                <a:solidFill>
                  <a:srgbClr val="0C3335"/>
                </a:solidFill>
                <a:latin typeface="Montserrat"/>
              </a:rPr>
              <a:t>VA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404041"/>
                </a:solidFill>
                <a:latin typeface="Open Sans"/>
              </a:rPr>
              <a:t>If you served, check this first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2000" b="1">
                <a:solidFill>
                  <a:srgbClr val="4B7B4D"/>
                </a:solidFill>
                <a:latin typeface="Montserrat"/>
              </a:rPr>
              <a:t>0% down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26520" y="2362138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C3335"/>
                </a:solidFill>
                <a:latin typeface="Montserrat"/>
              </a:rPr>
              <a:t>+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584" y="3536858"/>
            <a:ext cx="50798" cy="1111222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>
            <a:hlinkClick action="ppaction://hlinksldjump" r:id="rId6"/>
          </p:cNvPr>
          <p:cNvSpPr/>
          <p:nvPr/>
        </p:nvSpPr>
        <p:spPr>
          <a:xfrm>
            <a:off x="660382" y="3536858"/>
            <a:ext cx="3488181" cy="111122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495" rIns="190495" tIns="177795" bIns="126996"/>
          <a:lstStyle/>
          <a:p>
            <a:pPr algn="l"/>
            <a:r>
              <a:rPr sz="1700" b="1">
                <a:solidFill>
                  <a:srgbClr val="0C3335"/>
                </a:solidFill>
                <a:latin typeface="Montserrat"/>
              </a:rPr>
              <a:t>USDA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404041"/>
                </a:solidFill>
                <a:latin typeface="Open Sans"/>
              </a:rPr>
              <a:t>Eligible areas, income limits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2000" b="1">
                <a:solidFill>
                  <a:srgbClr val="4B7B4D"/>
                </a:solidFill>
                <a:latin typeface="Montserrat"/>
              </a:rPr>
              <a:t>0% down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2972" y="3651155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C3335"/>
                </a:solidFill>
                <a:latin typeface="Montserrat"/>
              </a:rPr>
              <a:t>+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6358" y="3536858"/>
            <a:ext cx="50798" cy="1111222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>
            <a:hlinkClick action="ppaction://hlinksldjump" r:id="rId7"/>
          </p:cNvPr>
          <p:cNvSpPr/>
          <p:nvPr/>
        </p:nvSpPr>
        <p:spPr>
          <a:xfrm>
            <a:off x="4377156" y="3536858"/>
            <a:ext cx="3488181" cy="111122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495" rIns="190495" tIns="177795" bIns="126996"/>
          <a:lstStyle/>
          <a:p>
            <a:pPr algn="l"/>
            <a:r>
              <a:rPr sz="1700" b="1">
                <a:solidFill>
                  <a:srgbClr val="0C3335"/>
                </a:solidFill>
                <a:latin typeface="Montserrat"/>
              </a:rPr>
              <a:t>Jumbo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404041"/>
                </a:solidFill>
                <a:latin typeface="Open Sans"/>
              </a:rPr>
              <a:t>Above conforming limits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2000" b="1">
                <a:solidFill>
                  <a:srgbClr val="4B7B4D"/>
                </a:solidFill>
                <a:latin typeface="Montserrat"/>
              </a:rPr>
              <a:t>Varies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09746" y="3651155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C3335"/>
                </a:solidFill>
                <a:latin typeface="Montserrat"/>
              </a:rPr>
              <a:t>+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584" y="5651531"/>
            <a:ext cx="10972527" cy="9525"/>
          </a:xfrm>
          <a:prstGeom prst="rect">
            <a:avLst/>
          </a:prstGeom>
          <a:solidFill>
            <a:srgbClr val="DDE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9584" y="5791227"/>
            <a:ext cx="1904952" cy="71118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280" y="5905524"/>
            <a:ext cx="1162867" cy="48258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962302" y="5842026"/>
            <a:ext cx="7619809" cy="634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6A7370"/>
                </a:solidFill>
                <a:latin typeface="Open Sans"/>
              </a:rPr>
              <a:t>Mountain State Financial Group, LLC · NMLS# 1314257 · msfg.us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A7370"/>
                </a:solidFill>
                <a:latin typeface="Open Sans"/>
              </a:rPr>
              <a:t>Licensed in CO, ND, SD, MN, MI, IL, TX · Equal Housing Lender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33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571485"/>
            <a:ext cx="10972527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Montserrat"/>
              </a:rPr>
              <a:t>Cash to close: where it comes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584" y="1269967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584" y="1485861"/>
            <a:ext cx="8254793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D6DEDA"/>
                </a:solidFill>
                <a:latin typeface="Open Sans"/>
              </a:rPr>
              <a:t>It doesn’t all have to be your savings. Tap any source for the rules.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584" y="2247841"/>
            <a:ext cx="50798" cy="1111222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3"/>
          </p:cNvPr>
          <p:cNvSpPr/>
          <p:nvPr/>
        </p:nvSpPr>
        <p:spPr>
          <a:xfrm>
            <a:off x="660382" y="2247841"/>
            <a:ext cx="3488181" cy="1111222"/>
          </a:xfrm>
          <a:prstGeom prst="rect">
            <a:avLst/>
          </a:prstGeom>
          <a:solidFill>
            <a:srgbClr val="1B4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495" rIns="190495" tIns="177795" bIns="126996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Savings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92972" y="2362138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+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6358" y="2247841"/>
            <a:ext cx="50798" cy="1111222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action="ppaction://hlinksldjump" r:id="rId4"/>
          </p:cNvPr>
          <p:cNvSpPr/>
          <p:nvPr/>
        </p:nvSpPr>
        <p:spPr>
          <a:xfrm>
            <a:off x="4377156" y="2247841"/>
            <a:ext cx="3488181" cy="1111222"/>
          </a:xfrm>
          <a:prstGeom prst="rect">
            <a:avLst/>
          </a:prstGeom>
          <a:solidFill>
            <a:srgbClr val="1B4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495" rIns="190495" tIns="177795" bIns="126996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Gift Funds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09746" y="2362138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+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3132" y="2247841"/>
            <a:ext cx="50798" cy="1111222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>
            <a:hlinkClick action="ppaction://hlinksldjump" r:id="rId5"/>
          </p:cNvPr>
          <p:cNvSpPr/>
          <p:nvPr/>
        </p:nvSpPr>
        <p:spPr>
          <a:xfrm>
            <a:off x="8093930" y="2247841"/>
            <a:ext cx="3488181" cy="1111222"/>
          </a:xfrm>
          <a:prstGeom prst="rect">
            <a:avLst/>
          </a:prstGeom>
          <a:solidFill>
            <a:srgbClr val="1B4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495" rIns="190495" tIns="177795" bIns="126996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Seller Credits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26520" y="2362138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+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584" y="3536858"/>
            <a:ext cx="50798" cy="1111222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>
            <a:hlinkClick action="ppaction://hlinksldjump" r:id="rId6"/>
          </p:cNvPr>
          <p:cNvSpPr/>
          <p:nvPr/>
        </p:nvSpPr>
        <p:spPr>
          <a:xfrm>
            <a:off x="660382" y="3536858"/>
            <a:ext cx="3488181" cy="1111222"/>
          </a:xfrm>
          <a:prstGeom prst="rect">
            <a:avLst/>
          </a:prstGeom>
          <a:solidFill>
            <a:srgbClr val="1B4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495" rIns="190495" tIns="177795" bIns="126996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2-1 Buydowns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2972" y="3651155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+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6358" y="3536858"/>
            <a:ext cx="50798" cy="1111222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>
            <a:hlinkClick action="ppaction://hlinksldjump" r:id="rId7"/>
          </p:cNvPr>
          <p:cNvSpPr/>
          <p:nvPr/>
        </p:nvSpPr>
        <p:spPr>
          <a:xfrm>
            <a:off x="4377156" y="3536858"/>
            <a:ext cx="3488181" cy="1111222"/>
          </a:xfrm>
          <a:prstGeom prst="rect">
            <a:avLst/>
          </a:prstGeom>
          <a:solidFill>
            <a:srgbClr val="1B4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495" rIns="190495" tIns="177795" bIns="126996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Agent Credits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09746" y="3651155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+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3132" y="3536858"/>
            <a:ext cx="50798" cy="1111222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>
            <a:hlinkClick action="ppaction://hlinksldjump" r:id="rId8"/>
          </p:cNvPr>
          <p:cNvSpPr/>
          <p:nvPr/>
        </p:nvSpPr>
        <p:spPr>
          <a:xfrm>
            <a:off x="8093930" y="3536858"/>
            <a:ext cx="3488181" cy="1111222"/>
          </a:xfrm>
          <a:prstGeom prst="rect">
            <a:avLst/>
          </a:prstGeom>
          <a:solidFill>
            <a:srgbClr val="1B4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495" rIns="190495" tIns="177795" bIns="126996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Down Payment Assistance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26520" y="3651155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+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584" y="5651531"/>
            <a:ext cx="10972527" cy="9525"/>
          </a:xfrm>
          <a:prstGeom prst="rect">
            <a:avLst/>
          </a:prstGeom>
          <a:solidFill>
            <a:srgbClr val="2A4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9584" y="5791227"/>
            <a:ext cx="1904952" cy="71118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280" y="5905524"/>
            <a:ext cx="1162867" cy="48258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962302" y="5842026"/>
            <a:ext cx="7619809" cy="634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A9B6B1"/>
                </a:solidFill>
                <a:latin typeface="Open Sans"/>
              </a:rPr>
              <a:t>Mountain State Financial Group, LLC · NMLS# 1314257 · msfg.us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6B1"/>
                </a:solidFill>
                <a:latin typeface="Open Sans"/>
              </a:rPr>
              <a:t>Licensed in CO, ND, SD, MN, MI, IL, TX · Equal Housing Lender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571485"/>
            <a:ext cx="8889777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400">
                <a:solidFill>
                  <a:srgbClr val="4B7B4D"/>
                </a:solidFill>
                <a:latin typeface="Montserrat"/>
              </a:rPr>
              <a:t>CASH TO 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939775"/>
            <a:ext cx="10972527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C3335"/>
                </a:solidFill>
                <a:latin typeface="Montserrat"/>
              </a:rPr>
              <a:t>Closing costs are not cash to close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892251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2108145"/>
            <a:ext cx="8254793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6A7370"/>
                </a:solidFill>
                <a:latin typeface="Open Sans"/>
              </a:rPr>
              <a:t>Closing costs get the loan. Cash to close is everything you bring — and it’s bigger.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584" y="2806627"/>
            <a:ext cx="482587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C3335"/>
                </a:solidFill>
                <a:latin typeface="Montserrat"/>
              </a:rPr>
              <a:t>Credits CAN pay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584" y="3136818"/>
            <a:ext cx="4825879" cy="28575"/>
          </a:xfrm>
          <a:prstGeom prst="rect">
            <a:avLst/>
          </a:prstGeom>
          <a:solidFill>
            <a:srgbClr val="4B7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584" y="3276515"/>
            <a:ext cx="4825879" cy="1904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Allowable closing costs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Prepaid items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Escrow deposits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Points to lower the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16453" y="2806627"/>
            <a:ext cx="482587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C3335"/>
                </a:solidFill>
                <a:latin typeface="Montserrat"/>
              </a:rPr>
              <a:t>Credits CANNOT pay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16453" y="3136818"/>
            <a:ext cx="4825879" cy="28575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16453" y="3276515"/>
            <a:ext cx="4825879" cy="1904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Your down payment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More than your actual costs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Cash back to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584" y="4127569"/>
            <a:ext cx="9524761" cy="1904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You can use </a:t>
            </a:r>
            <a:r>
              <a:rPr sz="1300" b="1">
                <a:solidFill>
                  <a:srgbClr val="404041"/>
                </a:solidFill>
                <a:latin typeface="Open Sans"/>
              </a:rPr>
              <a:t>points</a:t>
            </a:r>
            <a:r>
              <a:rPr sz="1300" b="0">
                <a:solidFill>
                  <a:srgbClr val="404041"/>
                </a:solidFill>
                <a:latin typeface="Open Sans"/>
              </a:rPr>
              <a:t> to buy down the rate — or credits to cover closing costs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1">
                <a:solidFill>
                  <a:srgbClr val="404041"/>
                </a:solidFill>
                <a:latin typeface="Open Sans"/>
              </a:rPr>
              <a:t>Prepaids</a:t>
            </a:r>
            <a:r>
              <a:rPr sz="1300" b="0">
                <a:solidFill>
                  <a:srgbClr val="404041"/>
                </a:solidFill>
                <a:latin typeface="Open Sans"/>
              </a:rPr>
              <a:t> (first insurance, some taxes) are your own money paid early, not a fee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1">
                <a:solidFill>
                  <a:srgbClr val="404041"/>
                </a:solidFill>
                <a:latin typeface="Open Sans"/>
              </a:rPr>
              <a:t>Reserves</a:t>
            </a:r>
            <a:r>
              <a:rPr sz="1300" b="0">
                <a:solidFill>
                  <a:srgbClr val="404041"/>
                </a:solidFill>
                <a:latin typeface="Open Sans"/>
              </a:rPr>
              <a:t> are funds you keep after closing — some programs require them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584" y="5651531"/>
            <a:ext cx="10972527" cy="9525"/>
          </a:xfrm>
          <a:prstGeom prst="rect">
            <a:avLst/>
          </a:prstGeom>
          <a:solidFill>
            <a:srgbClr val="DDE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9584" y="5791227"/>
            <a:ext cx="1904952" cy="71118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280" y="5905524"/>
            <a:ext cx="1162867" cy="48258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2302" y="5842026"/>
            <a:ext cx="7619809" cy="634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6A7370"/>
                </a:solidFill>
                <a:latin typeface="Open Sans"/>
              </a:rPr>
              <a:t>Mountain State Financial Group, LLC · NMLS# 1314257 · msfg.us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A7370"/>
                </a:solidFill>
                <a:latin typeface="Open Sans"/>
              </a:rPr>
              <a:t>Licensed in CO, ND, SD, MN, MI, IL, TX · Equal Housing Lender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571485"/>
            <a:ext cx="10972527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C3335"/>
                </a:solidFill>
                <a:latin typeface="Montserrat"/>
              </a:rPr>
              <a:t>Meet the players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584" y="1269967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584" y="1485861"/>
            <a:ext cx="8254793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6A7370"/>
                </a:solidFill>
                <a:latin typeface="Open Sans"/>
              </a:rPr>
              <a:t>Eight people — and they don’t all work for you. Tap anyone.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584" y="2247841"/>
            <a:ext cx="50798" cy="952476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3"/>
          </p:cNvPr>
          <p:cNvSpPr/>
          <p:nvPr/>
        </p:nvSpPr>
        <p:spPr>
          <a:xfrm>
            <a:off x="660382" y="2247841"/>
            <a:ext cx="2558987" cy="95247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495" rIns="190495" tIns="177795" bIns="126996"/>
          <a:lstStyle/>
          <a:p>
            <a:pPr algn="l"/>
            <a:r>
              <a:rPr sz="1700" b="1">
                <a:solidFill>
                  <a:srgbClr val="0C3335"/>
                </a:solidFill>
                <a:latin typeface="Montserrat"/>
              </a:rPr>
              <a:t>Lender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3778" y="2362138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C3335"/>
                </a:solidFill>
                <a:latin typeface="Montserrat"/>
              </a:rPr>
              <a:t>+</a:t>
            </a:r>
          </a:p>
        </p:txBody>
      </p:sp>
      <p:sp>
        <p:nvSpPr>
          <p:cNvPr id="8" name="Rectangle 7"/>
          <p:cNvSpPr/>
          <p:nvPr/>
        </p:nvSpPr>
        <p:spPr>
          <a:xfrm>
            <a:off x="3397164" y="2247841"/>
            <a:ext cx="50798" cy="952476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action="ppaction://hlinksldjump" r:id="rId4"/>
          </p:cNvPr>
          <p:cNvSpPr/>
          <p:nvPr/>
        </p:nvSpPr>
        <p:spPr>
          <a:xfrm>
            <a:off x="3447962" y="2247841"/>
            <a:ext cx="2558987" cy="95247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495" rIns="190495" tIns="177795" bIns="126996"/>
          <a:lstStyle/>
          <a:p>
            <a:pPr algn="l"/>
            <a:r>
              <a:rPr sz="1700" b="1">
                <a:solidFill>
                  <a:srgbClr val="0C3335"/>
                </a:solidFill>
                <a:latin typeface="Montserrat"/>
              </a:rPr>
              <a:t>Realtor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1359" y="2362138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C3335"/>
                </a:solidFill>
                <a:latin typeface="Montserrat"/>
              </a:rPr>
              <a:t>+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4745" y="2247841"/>
            <a:ext cx="50798" cy="952476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>
            <a:hlinkClick action="ppaction://hlinksldjump" r:id="rId5"/>
          </p:cNvPr>
          <p:cNvSpPr/>
          <p:nvPr/>
        </p:nvSpPr>
        <p:spPr>
          <a:xfrm>
            <a:off x="6235543" y="2247841"/>
            <a:ext cx="2558987" cy="95247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495" rIns="190495" tIns="177795" bIns="126996"/>
          <a:lstStyle/>
          <a:p>
            <a:pPr algn="l"/>
            <a:r>
              <a:rPr sz="1700" b="1">
                <a:solidFill>
                  <a:srgbClr val="0C3335"/>
                </a:solidFill>
                <a:latin typeface="Montserrat"/>
              </a:rPr>
              <a:t>Seller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8939" y="2362138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C3335"/>
                </a:solidFill>
                <a:latin typeface="Montserrat"/>
              </a:rPr>
              <a:t>+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72325" y="2247841"/>
            <a:ext cx="50798" cy="952476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>
            <a:hlinkClick action="ppaction://hlinksldjump" r:id="rId6"/>
          </p:cNvPr>
          <p:cNvSpPr/>
          <p:nvPr/>
        </p:nvSpPr>
        <p:spPr>
          <a:xfrm>
            <a:off x="9023123" y="2247841"/>
            <a:ext cx="2558987" cy="95247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495" rIns="190495" tIns="177795" bIns="126996"/>
          <a:lstStyle/>
          <a:p>
            <a:pPr algn="l"/>
            <a:r>
              <a:rPr sz="1700" b="1">
                <a:solidFill>
                  <a:srgbClr val="0C3335"/>
                </a:solidFill>
                <a:latin typeface="Montserrat"/>
              </a:rPr>
              <a:t>Processor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26520" y="2362138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C3335"/>
                </a:solidFill>
                <a:latin typeface="Montserrat"/>
              </a:rPr>
              <a:t>+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584" y="3378112"/>
            <a:ext cx="50798" cy="952476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>
            <a:hlinkClick action="ppaction://hlinksldjump" r:id="rId7"/>
          </p:cNvPr>
          <p:cNvSpPr/>
          <p:nvPr/>
        </p:nvSpPr>
        <p:spPr>
          <a:xfrm>
            <a:off x="660382" y="3378112"/>
            <a:ext cx="2558987" cy="95247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495" rIns="190495" tIns="177795" bIns="126996"/>
          <a:lstStyle/>
          <a:p>
            <a:pPr algn="l"/>
            <a:r>
              <a:rPr sz="1700" b="1">
                <a:solidFill>
                  <a:srgbClr val="0C3335"/>
                </a:solidFill>
                <a:latin typeface="Montserrat"/>
              </a:rPr>
              <a:t>Underwriter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63778" y="3492409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C3335"/>
                </a:solidFill>
                <a:latin typeface="Montserrat"/>
              </a:rPr>
              <a:t>+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97164" y="3378112"/>
            <a:ext cx="50798" cy="952476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>
            <a:hlinkClick action="ppaction://hlinksldjump" r:id="rId8"/>
          </p:cNvPr>
          <p:cNvSpPr/>
          <p:nvPr/>
        </p:nvSpPr>
        <p:spPr>
          <a:xfrm>
            <a:off x="3447962" y="3378112"/>
            <a:ext cx="2558987" cy="95247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495" rIns="190495" tIns="177795" bIns="126996"/>
          <a:lstStyle/>
          <a:p>
            <a:pPr algn="l"/>
            <a:r>
              <a:rPr sz="1700" b="1">
                <a:solidFill>
                  <a:srgbClr val="0C3335"/>
                </a:solidFill>
                <a:latin typeface="Montserrat"/>
              </a:rPr>
              <a:t>Title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51359" y="3492409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C3335"/>
                </a:solidFill>
                <a:latin typeface="Montserrat"/>
              </a:rPr>
              <a:t>+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84745" y="3378112"/>
            <a:ext cx="50798" cy="952476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>
            <a:hlinkClick action="ppaction://hlinksldjump" r:id="rId9"/>
          </p:cNvPr>
          <p:cNvSpPr/>
          <p:nvPr/>
        </p:nvSpPr>
        <p:spPr>
          <a:xfrm>
            <a:off x="6235543" y="3378112"/>
            <a:ext cx="2558987" cy="95247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495" rIns="190495" tIns="177795" bIns="126996"/>
          <a:lstStyle/>
          <a:p>
            <a:pPr algn="l"/>
            <a:r>
              <a:rPr sz="1700" b="1">
                <a:solidFill>
                  <a:srgbClr val="0C3335"/>
                </a:solidFill>
                <a:latin typeface="Montserrat"/>
              </a:rPr>
              <a:t>Closer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8939" y="3492409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C3335"/>
                </a:solidFill>
                <a:latin typeface="Montserrat"/>
              </a:rPr>
              <a:t>+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72325" y="3378112"/>
            <a:ext cx="50798" cy="952476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>
            <a:hlinkClick action="ppaction://hlinksldjump" r:id="rId10"/>
          </p:cNvPr>
          <p:cNvSpPr/>
          <p:nvPr/>
        </p:nvSpPr>
        <p:spPr>
          <a:xfrm>
            <a:off x="9023123" y="3378112"/>
            <a:ext cx="2558987" cy="95247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495" rIns="190495" tIns="177795" bIns="126996"/>
          <a:lstStyle/>
          <a:p>
            <a:pPr algn="l"/>
            <a:r>
              <a:rPr sz="1700" b="1">
                <a:solidFill>
                  <a:srgbClr val="0C3335"/>
                </a:solidFill>
                <a:latin typeface="Montserrat"/>
              </a:rPr>
              <a:t>Insurance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26520" y="3492409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C3335"/>
                </a:solidFill>
                <a:latin typeface="Montserrat"/>
              </a:rPr>
              <a:t>+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584" y="5651531"/>
            <a:ext cx="10972527" cy="9525"/>
          </a:xfrm>
          <a:prstGeom prst="rect">
            <a:avLst/>
          </a:prstGeom>
          <a:solidFill>
            <a:srgbClr val="DDE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9584" y="5791227"/>
            <a:ext cx="1904952" cy="71118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280" y="5905524"/>
            <a:ext cx="1162867" cy="482587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962302" y="5842026"/>
            <a:ext cx="7619809" cy="634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6A7370"/>
                </a:solidFill>
                <a:latin typeface="Open Sans"/>
              </a:rPr>
              <a:t>Mountain State Financial Group, LLC · NMLS# 1314257 · msfg.us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A7370"/>
                </a:solidFill>
                <a:latin typeface="Open Sans"/>
              </a:rPr>
              <a:t>Licensed in CO, ND, SD, MN, MI, IL, TX · Equal Housing Lender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33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571485"/>
            <a:ext cx="8889777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400">
                <a:solidFill>
                  <a:srgbClr val="8CC63E"/>
                </a:solidFill>
                <a:latin typeface="Montserrat"/>
              </a:rPr>
              <a:t>THE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939775"/>
            <a:ext cx="10972527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Montserrat"/>
              </a:rPr>
              <a:t>From first call to keys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638257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" y="3282954"/>
            <a:ext cx="10972527" cy="38100"/>
          </a:xfrm>
          <a:prstGeom prst="rect">
            <a:avLst/>
          </a:prstGeom>
          <a:solidFill>
            <a:srgbClr val="2A4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44488" y="3136908"/>
            <a:ext cx="330191" cy="330191"/>
          </a:xfrm>
          <a:prstGeom prst="ellipse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52435" y="3244855"/>
            <a:ext cx="114297" cy="114297"/>
          </a:xfrm>
          <a:prstGeom prst="ellipse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-174167" y="3682994"/>
            <a:ext cx="1567503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Pre-Approval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174167" y="4127483"/>
            <a:ext cx="1567503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A9B6B1"/>
                </a:solidFill>
                <a:latin typeface="Open Sans"/>
              </a:rPr>
              <a:t>1–2 days</a:t>
            </a:r>
          </a:p>
        </p:txBody>
      </p:sp>
      <p:sp>
        <p:nvSpPr>
          <p:cNvPr id="10" name="Oval 9"/>
          <p:cNvSpPr/>
          <p:nvPr/>
        </p:nvSpPr>
        <p:spPr>
          <a:xfrm>
            <a:off x="2011992" y="3136908"/>
            <a:ext cx="330191" cy="330191"/>
          </a:xfrm>
          <a:prstGeom prst="ellipse">
            <a:avLst/>
          </a:prstGeom>
          <a:solidFill>
            <a:srgbClr val="6FA8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19939" y="3244855"/>
            <a:ext cx="114297" cy="114297"/>
          </a:xfrm>
          <a:prstGeom prst="ellipse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3335" y="3682994"/>
            <a:ext cx="1567503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Application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3335" y="4127483"/>
            <a:ext cx="1567503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A9B6B1"/>
                </a:solidFill>
                <a:latin typeface="Open Sans"/>
              </a:rPr>
              <a:t>Same day</a:t>
            </a:r>
          </a:p>
        </p:txBody>
      </p:sp>
      <p:sp>
        <p:nvSpPr>
          <p:cNvPr id="14" name="Oval 13"/>
          <p:cNvSpPr/>
          <p:nvPr/>
        </p:nvSpPr>
        <p:spPr>
          <a:xfrm>
            <a:off x="3579496" y="3136908"/>
            <a:ext cx="330191" cy="330191"/>
          </a:xfrm>
          <a:prstGeom prst="ellipse">
            <a:avLst/>
          </a:prstGeom>
          <a:solidFill>
            <a:srgbClr val="6FA8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87443" y="3244855"/>
            <a:ext cx="114297" cy="114297"/>
          </a:xfrm>
          <a:prstGeom prst="ellipse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60839" y="3682994"/>
            <a:ext cx="1567503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Processing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60839" y="4127483"/>
            <a:ext cx="1567503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A9B6B1"/>
                </a:solidFill>
                <a:latin typeface="Open Sans"/>
              </a:rPr>
              <a:t>1–2 weeks</a:t>
            </a:r>
          </a:p>
        </p:txBody>
      </p:sp>
      <p:sp>
        <p:nvSpPr>
          <p:cNvPr id="18" name="Oval 17"/>
          <p:cNvSpPr/>
          <p:nvPr/>
        </p:nvSpPr>
        <p:spPr>
          <a:xfrm>
            <a:off x="5147000" y="3136908"/>
            <a:ext cx="330191" cy="330191"/>
          </a:xfrm>
          <a:prstGeom prst="ellipse">
            <a:avLst/>
          </a:prstGeom>
          <a:solidFill>
            <a:srgbClr val="4B7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54947" y="3244855"/>
            <a:ext cx="114297" cy="114297"/>
          </a:xfrm>
          <a:prstGeom prst="ellipse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8343" y="3682994"/>
            <a:ext cx="1567503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Underwriting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8343" y="4127483"/>
            <a:ext cx="1567503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A9B6B1"/>
                </a:solidFill>
                <a:latin typeface="Open Sans"/>
              </a:rPr>
              <a:t>Days–1 week</a:t>
            </a:r>
          </a:p>
        </p:txBody>
      </p:sp>
      <p:sp>
        <p:nvSpPr>
          <p:cNvPr id="22" name="Oval 21"/>
          <p:cNvSpPr/>
          <p:nvPr/>
        </p:nvSpPr>
        <p:spPr>
          <a:xfrm>
            <a:off x="6714503" y="3136908"/>
            <a:ext cx="330191" cy="330191"/>
          </a:xfrm>
          <a:prstGeom prst="ellipse">
            <a:avLst/>
          </a:prstGeom>
          <a:solidFill>
            <a:srgbClr val="4B7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822450" y="3244855"/>
            <a:ext cx="114297" cy="114297"/>
          </a:xfrm>
          <a:prstGeom prst="ellipse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5847" y="3682994"/>
            <a:ext cx="1567503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Conditional Approval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5847" y="4127483"/>
            <a:ext cx="1567503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A9B6B1"/>
                </a:solidFill>
                <a:latin typeface="Open Sans"/>
              </a:rPr>
              <a:t>A few days</a:t>
            </a:r>
          </a:p>
        </p:txBody>
      </p:sp>
      <p:sp>
        <p:nvSpPr>
          <p:cNvPr id="26" name="Oval 25"/>
          <p:cNvSpPr/>
          <p:nvPr/>
        </p:nvSpPr>
        <p:spPr>
          <a:xfrm>
            <a:off x="8282007" y="3136908"/>
            <a:ext cx="330191" cy="330191"/>
          </a:xfrm>
          <a:prstGeom prst="ellipse">
            <a:avLst/>
          </a:prstGeom>
          <a:solidFill>
            <a:srgbClr val="144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89954" y="3244855"/>
            <a:ext cx="114297" cy="114297"/>
          </a:xfrm>
          <a:prstGeom prst="ellipse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63351" y="3682994"/>
            <a:ext cx="1567503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Clear to Close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63351" y="4127483"/>
            <a:ext cx="1567503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A9B6B1"/>
                </a:solidFill>
                <a:latin typeface="Open Sans"/>
              </a:rPr>
              <a:t>Days before</a:t>
            </a:r>
          </a:p>
        </p:txBody>
      </p:sp>
      <p:sp>
        <p:nvSpPr>
          <p:cNvPr id="30" name="Oval 29"/>
          <p:cNvSpPr/>
          <p:nvPr/>
        </p:nvSpPr>
        <p:spPr>
          <a:xfrm>
            <a:off x="9849511" y="3136908"/>
            <a:ext cx="330191" cy="330191"/>
          </a:xfrm>
          <a:prstGeom prst="ellipse">
            <a:avLst/>
          </a:prstGeom>
          <a:solidFill>
            <a:srgbClr val="144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7458" y="3244855"/>
            <a:ext cx="114297" cy="114297"/>
          </a:xfrm>
          <a:prstGeom prst="ellipse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30855" y="3682994"/>
            <a:ext cx="1567503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Closed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0855" y="4127483"/>
            <a:ext cx="1567503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A9B6B1"/>
                </a:solidFill>
                <a:latin typeface="Open Sans"/>
              </a:rPr>
              <a:t>About an hour</a:t>
            </a:r>
          </a:p>
        </p:txBody>
      </p:sp>
      <p:sp>
        <p:nvSpPr>
          <p:cNvPr id="34" name="Oval 33"/>
          <p:cNvSpPr/>
          <p:nvPr/>
        </p:nvSpPr>
        <p:spPr>
          <a:xfrm>
            <a:off x="11417015" y="3136908"/>
            <a:ext cx="330191" cy="330191"/>
          </a:xfrm>
          <a:prstGeom prst="ellipse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524962" y="3244855"/>
            <a:ext cx="114297" cy="114297"/>
          </a:xfrm>
          <a:prstGeom prst="ellipse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798359" y="3682994"/>
            <a:ext cx="1567503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Funded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98359" y="4127483"/>
            <a:ext cx="1567503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A9B6B1"/>
                </a:solidFill>
                <a:latin typeface="Open Sans"/>
              </a:rPr>
              <a:t>Same / next day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584" y="5651531"/>
            <a:ext cx="10972527" cy="9525"/>
          </a:xfrm>
          <a:prstGeom prst="rect">
            <a:avLst/>
          </a:prstGeom>
          <a:solidFill>
            <a:srgbClr val="2A4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9584" y="5791227"/>
            <a:ext cx="1904952" cy="71118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280" y="5905524"/>
            <a:ext cx="1162867" cy="48258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3962302" y="5842026"/>
            <a:ext cx="7619809" cy="634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A9B6B1"/>
                </a:solidFill>
                <a:latin typeface="Open Sans"/>
              </a:rPr>
              <a:t>Mountain State Financial Group, LLC · NMLS# 1314257 · msfg.us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6B1"/>
                </a:solidFill>
                <a:latin typeface="Open Sans"/>
              </a:rPr>
              <a:t>Licensed in CO, ND, SD, MN, MI, IL, TX · Equal Housing Lender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571485"/>
            <a:ext cx="8889777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400">
                <a:solidFill>
                  <a:srgbClr val="4B7B4D"/>
                </a:solidFill>
                <a:latin typeface="Montserrat"/>
              </a:rPr>
              <a:t>MISTAKES TO AVOID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939775"/>
            <a:ext cx="10972527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C3335"/>
                </a:solidFill>
                <a:latin typeface="Montserrat"/>
              </a:rPr>
              <a:t>Don't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638257"/>
            <a:ext cx="609584" cy="5079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1854151"/>
            <a:ext cx="8254793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6A7370"/>
                </a:solidFill>
                <a:latin typeface="Open Sans"/>
              </a:rPr>
              <a:t>From application to closing, your financial life is a museum exhibit — look, don’t touch.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84" y="2679629"/>
            <a:ext cx="292092" cy="29209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673" y="2679629"/>
            <a:ext cx="4775082" cy="444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0">
                <a:solidFill>
                  <a:srgbClr val="404041"/>
                </a:solidFill>
                <a:latin typeface="Open Sans"/>
              </a:rPr>
              <a:t>Apply for or take out any new loans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584" y="3174916"/>
            <a:ext cx="292092" cy="29209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8673" y="3174916"/>
            <a:ext cx="4775082" cy="444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0">
                <a:solidFill>
                  <a:srgbClr val="404041"/>
                </a:solidFill>
                <a:latin typeface="Open Sans"/>
              </a:rPr>
              <a:t>Pay off collections or debt unless your lender says 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584" y="3670203"/>
            <a:ext cx="292092" cy="29209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673" y="3670203"/>
            <a:ext cx="4775082" cy="444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0">
                <a:solidFill>
                  <a:srgbClr val="404041"/>
                </a:solidFill>
                <a:latin typeface="Open Sans"/>
              </a:rPr>
              <a:t>Consolidate debt or close credit cards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584" y="4165490"/>
            <a:ext cx="292092" cy="29209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673" y="4165490"/>
            <a:ext cx="4775082" cy="444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0">
                <a:solidFill>
                  <a:srgbClr val="404041"/>
                </a:solidFill>
                <a:latin typeface="Open Sans"/>
              </a:rPr>
              <a:t>Dispute items on your credit report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584" y="4660777"/>
            <a:ext cx="292092" cy="29209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673" y="4660777"/>
            <a:ext cx="4775082" cy="444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0">
                <a:solidFill>
                  <a:srgbClr val="404041"/>
                </a:solidFill>
                <a:latin typeface="Open Sans"/>
              </a:rPr>
              <a:t>Make large deposits other than payroll — no cash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99042" y="2679629"/>
            <a:ext cx="292092" cy="29209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18131" y="2679629"/>
            <a:ext cx="4775082" cy="444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0">
                <a:solidFill>
                  <a:srgbClr val="404041"/>
                </a:solidFill>
                <a:latin typeface="Open Sans"/>
              </a:rPr>
              <a:t>Make large purchases with credit or debit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99042" y="3174916"/>
            <a:ext cx="292092" cy="29209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8131" y="3174916"/>
            <a:ext cx="4775082" cy="444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0">
                <a:solidFill>
                  <a:srgbClr val="404041"/>
                </a:solidFill>
                <a:latin typeface="Open Sans"/>
              </a:rPr>
              <a:t>Move money between accounts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99042" y="3670203"/>
            <a:ext cx="292092" cy="29209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8131" y="3670203"/>
            <a:ext cx="4775082" cy="444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0">
                <a:solidFill>
                  <a:srgbClr val="404041"/>
                </a:solidFill>
                <a:latin typeface="Open Sans"/>
              </a:rPr>
              <a:t>Change jobs without talking to your loan officer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99042" y="4165490"/>
            <a:ext cx="292092" cy="29209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8131" y="4165490"/>
            <a:ext cx="4775082" cy="444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0">
                <a:solidFill>
                  <a:srgbClr val="404041"/>
                </a:solidFill>
                <a:latin typeface="Open Sans"/>
              </a:rPr>
              <a:t>Quit or give notice before your loan closes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99042" y="4660777"/>
            <a:ext cx="292092" cy="29209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8131" y="4660777"/>
            <a:ext cx="4775082" cy="444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0">
                <a:solidFill>
                  <a:srgbClr val="404041"/>
                </a:solidFill>
                <a:latin typeface="Open Sans"/>
              </a:rPr>
              <a:t>Use cash for earnest money — check or wire only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584" y="5651531"/>
            <a:ext cx="10972527" cy="9525"/>
          </a:xfrm>
          <a:prstGeom prst="rect">
            <a:avLst/>
          </a:prstGeom>
          <a:solidFill>
            <a:srgbClr val="DDE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9584" y="5791227"/>
            <a:ext cx="1904952" cy="71118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280" y="5905524"/>
            <a:ext cx="1162867" cy="482587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962302" y="5842026"/>
            <a:ext cx="7619809" cy="634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6A7370"/>
                </a:solidFill>
                <a:latin typeface="Open Sans"/>
              </a:rPr>
              <a:t>Mountain State Financial Group, LLC · NMLS# 1314257 · msfg.us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A7370"/>
                </a:solidFill>
                <a:latin typeface="Open Sans"/>
              </a:rPr>
              <a:t>Licensed in CO, ND, SD, MN, MI, IL, TX · Equal Housing Lender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571485"/>
            <a:ext cx="8889777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400">
                <a:solidFill>
                  <a:srgbClr val="4B7B4D"/>
                </a:solidFill>
                <a:latin typeface="Montserrat"/>
              </a:rPr>
              <a:t>MISTAKES TO AVOID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939775"/>
            <a:ext cx="10972527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C3335"/>
                </a:solidFill>
                <a:latin typeface="Montserrat"/>
              </a:rPr>
              <a:t>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638257"/>
            <a:ext cx="609584" cy="50798"/>
          </a:xfrm>
          <a:prstGeom prst="rect">
            <a:avLst/>
          </a:prstGeom>
          <a:solidFill>
            <a:srgbClr val="3E8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1854151"/>
            <a:ext cx="8254793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6A7370"/>
                </a:solidFill>
                <a:latin typeface="Open Sans"/>
              </a:rPr>
              <a:t>The short list that keeps a file moving.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84" y="2679629"/>
            <a:ext cx="292092" cy="292092"/>
          </a:xfrm>
          <a:prstGeom prst="rect">
            <a:avLst/>
          </a:prstGeom>
          <a:solidFill>
            <a:srgbClr val="3E8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673" y="2679629"/>
            <a:ext cx="10058151" cy="444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>
                <a:solidFill>
                  <a:srgbClr val="404041"/>
                </a:solidFill>
                <a:latin typeface="Open Sans"/>
              </a:rPr>
              <a:t>Make all your payments on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584" y="3174916"/>
            <a:ext cx="292092" cy="292092"/>
          </a:xfrm>
          <a:prstGeom prst="rect">
            <a:avLst/>
          </a:prstGeom>
          <a:solidFill>
            <a:srgbClr val="3E8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8673" y="3174916"/>
            <a:ext cx="10058151" cy="444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>
                <a:solidFill>
                  <a:srgbClr val="404041"/>
                </a:solidFill>
                <a:latin typeface="Open Sans"/>
              </a:rPr>
              <a:t>Tell your lender if you haven’t filed last year’s taxes, or owe on them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584" y="3670203"/>
            <a:ext cx="292092" cy="292092"/>
          </a:xfrm>
          <a:prstGeom prst="rect">
            <a:avLst/>
          </a:prstGeom>
          <a:solidFill>
            <a:srgbClr val="3E8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673" y="3670203"/>
            <a:ext cx="10058151" cy="444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>
                <a:solidFill>
                  <a:srgbClr val="404041"/>
                </a:solidFill>
                <a:latin typeface="Open Sans"/>
              </a:rPr>
              <a:t>Tell your lender if anything about your job is changing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584" y="4165490"/>
            <a:ext cx="292092" cy="292092"/>
          </a:xfrm>
          <a:prstGeom prst="rect">
            <a:avLst/>
          </a:prstGeom>
          <a:solidFill>
            <a:srgbClr val="3E8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673" y="4165490"/>
            <a:ext cx="10058151" cy="444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>
                <a:solidFill>
                  <a:srgbClr val="404041"/>
                </a:solidFill>
                <a:latin typeface="Open Sans"/>
              </a:rPr>
              <a:t>Keep homeowners insurance at or under the Loan Estimate amount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584" y="4660777"/>
            <a:ext cx="292092" cy="292092"/>
          </a:xfrm>
          <a:prstGeom prst="rect">
            <a:avLst/>
          </a:prstGeom>
          <a:solidFill>
            <a:srgbClr val="3E8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673" y="4660777"/>
            <a:ext cx="10058151" cy="444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>
                <a:solidFill>
                  <a:srgbClr val="404041"/>
                </a:solidFill>
                <a:latin typeface="Open Sans"/>
              </a:rPr>
              <a:t>Return everything your lender asks for quickly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584" y="5651531"/>
            <a:ext cx="10972527" cy="9525"/>
          </a:xfrm>
          <a:prstGeom prst="rect">
            <a:avLst/>
          </a:prstGeom>
          <a:solidFill>
            <a:srgbClr val="DDE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584" y="5791227"/>
            <a:ext cx="1904952" cy="71118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280" y="5905524"/>
            <a:ext cx="1162867" cy="48258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962302" y="5842026"/>
            <a:ext cx="7619809" cy="634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6A7370"/>
                </a:solidFill>
                <a:latin typeface="Open Sans"/>
              </a:rPr>
              <a:t>Mountain State Financial Group, LLC · NMLS# 1314257 · msfg.us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A7370"/>
                </a:solidFill>
                <a:latin typeface="Open Sans"/>
              </a:rPr>
              <a:t>Licensed in CO, ND, SD, MN, MI, IL, TX · Equal Housing Lender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33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571485"/>
            <a:ext cx="8889777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400">
                <a:solidFill>
                  <a:srgbClr val="8CC63E"/>
                </a:solidFill>
                <a:latin typeface="Montserrat"/>
              </a:rPr>
              <a:t>MISTAKES TO AVOID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939775"/>
            <a:ext cx="10972527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Montserrat"/>
              </a:rPr>
              <a:t>Don’t assume the lowest rate wins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638257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1981147"/>
            <a:ext cx="9524761" cy="3174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CC63E"/>
                </a:solidFill>
                <a:latin typeface="Open Sans"/>
              </a:rPr>
              <a:t>■  </a:t>
            </a:r>
            <a:r>
              <a:rPr sz="1500" b="1">
                <a:solidFill>
                  <a:srgbClr val="D6DEDA"/>
                </a:solidFill>
                <a:latin typeface="Open Sans"/>
              </a:rPr>
              <a:t>Breakeven:</a:t>
            </a:r>
            <a:r>
              <a:rPr sz="1500" b="0">
                <a:solidFill>
                  <a:srgbClr val="D6DEDA"/>
                </a:solidFill>
                <a:latin typeface="Open Sans"/>
              </a:rPr>
              <a:t> a rate bought with points only pays off if you keep the loan long enough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>
                <a:solidFill>
                  <a:srgbClr val="8CC63E"/>
                </a:solidFill>
                <a:latin typeface="Open Sans"/>
              </a:rPr>
              <a:t>■  </a:t>
            </a:r>
            <a:r>
              <a:rPr sz="1500" b="0">
                <a:solidFill>
                  <a:srgbClr val="D6DEDA"/>
                </a:solidFill>
                <a:latin typeface="Open Sans"/>
              </a:rPr>
              <a:t>Points are a bet on </a:t>
            </a:r>
            <a:r>
              <a:rPr sz="1500" b="1">
                <a:solidFill>
                  <a:srgbClr val="D6DEDA"/>
                </a:solidFill>
                <a:latin typeface="Open Sans"/>
              </a:rPr>
              <a:t>how long you keep this exact loan</a:t>
            </a:r>
            <a:r>
              <a:rPr sz="1500" b="0">
                <a:solidFill>
                  <a:srgbClr val="D6DEDA"/>
                </a:solidFill>
                <a:latin typeface="Open Sans"/>
              </a:rPr>
              <a:t> — not this house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>
                <a:solidFill>
                  <a:srgbClr val="8CC63E"/>
                </a:solidFill>
                <a:latin typeface="Open Sans"/>
              </a:rPr>
              <a:t>■  </a:t>
            </a:r>
            <a:r>
              <a:rPr sz="1500" b="1">
                <a:solidFill>
                  <a:srgbClr val="D6DEDA"/>
                </a:solidFill>
                <a:latin typeface="Open Sans"/>
              </a:rPr>
              <a:t>Refinancing ends the loan</a:t>
            </a:r>
            <a:r>
              <a:rPr sz="1500" b="0">
                <a:solidFill>
                  <a:srgbClr val="D6DEDA"/>
                </a:solidFill>
                <a:latin typeface="Open Sans"/>
              </a:rPr>
              <a:t> early and restarts amortization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>
                <a:solidFill>
                  <a:srgbClr val="8CC63E"/>
                </a:solidFill>
                <a:latin typeface="Open Sans"/>
              </a:rPr>
              <a:t>■  </a:t>
            </a:r>
            <a:r>
              <a:rPr sz="1500" b="0">
                <a:solidFill>
                  <a:srgbClr val="D6DEDA"/>
                </a:solidFill>
                <a:latin typeface="Open Sans"/>
              </a:rPr>
              <a:t>Real wealth comes from </a:t>
            </a:r>
            <a:r>
              <a:rPr sz="1500" b="1">
                <a:solidFill>
                  <a:srgbClr val="D6DEDA"/>
                </a:solidFill>
                <a:latin typeface="Open Sans"/>
              </a:rPr>
              <a:t>building equity</a:t>
            </a:r>
            <a:r>
              <a:rPr sz="1500" b="0">
                <a:solidFill>
                  <a:srgbClr val="D6DEDA"/>
                </a:solidFill>
                <a:latin typeface="Open Sans"/>
              </a:rPr>
              <a:t> — payments and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84" y="4762553"/>
            <a:ext cx="9524761" cy="571485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3993"/>
          <a:lstStyle/>
          <a:p>
            <a:pPr algn="l"/>
            <a:r>
              <a:rPr sz="1600" b="1">
                <a:solidFill>
                  <a:srgbClr val="0C3335"/>
                </a:solidFill>
                <a:latin typeface="Montserrat"/>
              </a:rPr>
              <a:t>Equity is built by payments and time — not the third decimal of your rate.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571485"/>
            <a:ext cx="8889777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400">
                <a:solidFill>
                  <a:srgbClr val="4B7B4D"/>
                </a:solidFill>
                <a:latin typeface="Montserrat"/>
              </a:rPr>
              <a:t>MISTAKES TO AVOID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939775"/>
            <a:ext cx="10972527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C3335"/>
                </a:solidFill>
                <a:latin typeface="Montserrat"/>
              </a:rPr>
              <a:t>The most expensive mistakes start as small assumptions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892251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2108145"/>
            <a:ext cx="8254793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6A7370"/>
                </a:solidFill>
                <a:latin typeface="Open Sans"/>
              </a:rPr>
              <a:t>Tap any one for what actually happens.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84" y="2870125"/>
            <a:ext cx="50798" cy="952476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3"/>
          </p:cNvPr>
          <p:cNvSpPr/>
          <p:nvPr/>
        </p:nvSpPr>
        <p:spPr>
          <a:xfrm>
            <a:off x="660382" y="2870125"/>
            <a:ext cx="3488181" cy="95247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495" rIns="190495" tIns="177795" bIns="126996"/>
          <a:lstStyle/>
          <a:p>
            <a:pPr algn="l"/>
            <a:r>
              <a:rPr sz="1500" b="0">
                <a:solidFill>
                  <a:srgbClr val="404041"/>
                </a:solidFill>
                <a:latin typeface="Open Sans"/>
              </a:rPr>
              <a:t>“I’ll get pre-approved once I find a house.”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2972" y="2984422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C3335"/>
                </a:solidFill>
                <a:latin typeface="Montserrat"/>
              </a:rPr>
              <a:t>+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6358" y="2870125"/>
            <a:ext cx="50798" cy="952476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4"/>
          </p:cNvPr>
          <p:cNvSpPr/>
          <p:nvPr/>
        </p:nvSpPr>
        <p:spPr>
          <a:xfrm>
            <a:off x="4377156" y="2870125"/>
            <a:ext cx="3488181" cy="95247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495" rIns="190495" tIns="177795" bIns="126996"/>
          <a:lstStyle/>
          <a:p>
            <a:pPr algn="l"/>
            <a:r>
              <a:rPr sz="1500" b="0">
                <a:solidFill>
                  <a:srgbClr val="404041"/>
                </a:solidFill>
                <a:latin typeface="Open Sans"/>
              </a:rPr>
              <a:t>“They’re all the same — I’ll use one lender.”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09746" y="2984422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C3335"/>
                </a:solidFill>
                <a:latin typeface="Montserrat"/>
              </a:rPr>
              <a:t>+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3132" y="2870125"/>
            <a:ext cx="50798" cy="952476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>
            <a:hlinkClick action="ppaction://hlinksldjump" r:id="rId5"/>
          </p:cNvPr>
          <p:cNvSpPr/>
          <p:nvPr/>
        </p:nvSpPr>
        <p:spPr>
          <a:xfrm>
            <a:off x="8093930" y="2870125"/>
            <a:ext cx="3488181" cy="95247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495" rIns="190495" tIns="177795" bIns="126996"/>
          <a:lstStyle/>
          <a:p>
            <a:pPr algn="l"/>
            <a:r>
              <a:rPr sz="1500" b="0">
                <a:solidFill>
                  <a:srgbClr val="404041"/>
                </a:solidFill>
                <a:latin typeface="Open Sans"/>
              </a:rPr>
              <a:t>“Closing costs are what I need at closing.”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26520" y="2984422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C3335"/>
                </a:solidFill>
                <a:latin typeface="Montserrat"/>
              </a:rPr>
              <a:t>+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584" y="4000396"/>
            <a:ext cx="50798" cy="952476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6"/>
          </p:cNvPr>
          <p:cNvSpPr/>
          <p:nvPr/>
        </p:nvSpPr>
        <p:spPr>
          <a:xfrm>
            <a:off x="660382" y="4000396"/>
            <a:ext cx="3488181" cy="95247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495" rIns="190495" tIns="177795" bIns="126996"/>
          <a:lstStyle/>
          <a:p>
            <a:pPr algn="l"/>
            <a:r>
              <a:rPr sz="1500" b="0">
                <a:solidFill>
                  <a:srgbClr val="404041"/>
                </a:solidFill>
                <a:latin typeface="Open Sans"/>
              </a:rPr>
              <a:t>“I’m approved, so I’m done.”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2972" y="4114693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C3335"/>
                </a:solidFill>
                <a:latin typeface="Montserrat"/>
              </a:rPr>
              <a:t>+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6358" y="4000396"/>
            <a:ext cx="50798" cy="952476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>
            <a:hlinkClick action="ppaction://hlinksldjump" r:id="rId7"/>
          </p:cNvPr>
          <p:cNvSpPr/>
          <p:nvPr/>
        </p:nvSpPr>
        <p:spPr>
          <a:xfrm>
            <a:off x="4377156" y="4000396"/>
            <a:ext cx="3488181" cy="95247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495" rIns="190495" tIns="177795" bIns="126996"/>
          <a:lstStyle/>
          <a:p>
            <a:pPr algn="l"/>
            <a:r>
              <a:rPr sz="1500" b="0">
                <a:solidFill>
                  <a:srgbClr val="404041"/>
                </a:solidFill>
                <a:latin typeface="Open Sans"/>
              </a:rPr>
              <a:t>“I’ll wait until I have twenty percent.”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09746" y="4114693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C3335"/>
                </a:solidFill>
                <a:latin typeface="Montserrat"/>
              </a:rPr>
              <a:t>+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3132" y="4000396"/>
            <a:ext cx="50798" cy="952476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8"/>
          </p:cNvPr>
          <p:cNvSpPr/>
          <p:nvPr/>
        </p:nvSpPr>
        <p:spPr>
          <a:xfrm>
            <a:off x="8093930" y="4000396"/>
            <a:ext cx="3488181" cy="95247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495" rIns="190495" tIns="177795" bIns="126996"/>
          <a:lstStyle/>
          <a:p>
            <a:pPr algn="l"/>
            <a:r>
              <a:rPr sz="1500" b="0">
                <a:solidFill>
                  <a:srgbClr val="404041"/>
                </a:solidFill>
                <a:latin typeface="Open Sans"/>
              </a:rPr>
              <a:t>“The builder’s incentive is free money.”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26520" y="4114693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C3335"/>
                </a:solidFill>
                <a:latin typeface="Montserrat"/>
              </a:rPr>
              <a:t>+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584" y="5651531"/>
            <a:ext cx="10972527" cy="9525"/>
          </a:xfrm>
          <a:prstGeom prst="rect">
            <a:avLst/>
          </a:prstGeom>
          <a:solidFill>
            <a:srgbClr val="DDE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9584" y="5791227"/>
            <a:ext cx="1904952" cy="71118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280" y="5905524"/>
            <a:ext cx="1162867" cy="48258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962302" y="5842026"/>
            <a:ext cx="7619809" cy="634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6A7370"/>
                </a:solidFill>
                <a:latin typeface="Open Sans"/>
              </a:rPr>
              <a:t>Mountain State Financial Group, LLC · NMLS# 1314257 · msfg.us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A7370"/>
                </a:solidFill>
                <a:latin typeface="Open Sans"/>
              </a:rPr>
              <a:t>Licensed in CO, ND, SD, MN, MI, IL, TX · Equal Housing Lender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33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571485"/>
            <a:ext cx="8889777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400">
                <a:solidFill>
                  <a:srgbClr val="8CC63E"/>
                </a:solidFill>
                <a:latin typeface="Montserrat"/>
              </a:rPr>
              <a:t>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939775"/>
            <a:ext cx="10972527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Montserrat"/>
              </a:rPr>
              <a:t>The questions everyone 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638257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" y="1917649"/>
            <a:ext cx="355591" cy="355591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C3335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2970" y="1917649"/>
            <a:ext cx="9207269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How much money do I actually need?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D6DEDA"/>
                </a:solidFill>
                <a:latin typeface="Open Sans"/>
              </a:rPr>
              <a:t>Less than most think — 3% conventional, 3.5% FHA, 0% VA/USDA — plus closing costs and an emergency fund you don’t touch.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584" y="2870125"/>
            <a:ext cx="355591" cy="355591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C3335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2970" y="2870125"/>
            <a:ext cx="9207269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What credit score do I need?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D6DEDA"/>
                </a:solidFill>
                <a:latin typeface="Open Sans"/>
              </a:rPr>
              <a:t>No single number. It depends on the program, and you’re probably closer than you think.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584" y="3822601"/>
            <a:ext cx="355591" cy="355591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C3335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2970" y="3822601"/>
            <a:ext cx="9207269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How long does it take?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D6DEDA"/>
                </a:solidFill>
                <a:latin typeface="Open Sans"/>
              </a:rPr>
              <a:t>Contract to keys is typically 30–45 days. The biggest variable is how fast you return documents.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584" y="4775077"/>
            <a:ext cx="355591" cy="355591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C3335"/>
                </a:solidFill>
                <a:latin typeface="Montserrat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2970" y="4775077"/>
            <a:ext cx="9207269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Should I lock my rate?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D6DEDA"/>
                </a:solidFill>
                <a:latin typeface="Open Sans"/>
              </a:rPr>
              <a:t>Generally once you’re under contract. Ask about a float-down before you lock.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584" y="5727553"/>
            <a:ext cx="355591" cy="355591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C3335"/>
                </a:solidFill>
                <a:latin typeface="Montserrat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2970" y="5727553"/>
            <a:ext cx="9207269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What happens after pre-approval?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D6DEDA"/>
                </a:solidFill>
                <a:latin typeface="Open Sans"/>
              </a:rPr>
              <a:t>You shop with a real budget, make an offer, and it becomes a formal application — Loan Estimate within three business days.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584" y="5651531"/>
            <a:ext cx="10972527" cy="9525"/>
          </a:xfrm>
          <a:prstGeom prst="rect">
            <a:avLst/>
          </a:prstGeom>
          <a:solidFill>
            <a:srgbClr val="2A4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584" y="5791227"/>
            <a:ext cx="1904952" cy="71118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280" y="5905524"/>
            <a:ext cx="1162867" cy="48258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962302" y="5842026"/>
            <a:ext cx="7619809" cy="634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A9B6B1"/>
                </a:solidFill>
                <a:latin typeface="Open Sans"/>
              </a:rPr>
              <a:t>Mountain State Financial Group, LLC · NMLS# 1314257 · msfg.us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6B1"/>
                </a:solidFill>
                <a:latin typeface="Open Sans"/>
              </a:rPr>
              <a:t>Licensed in CO, ND, SD, MN, MI, IL, TX · Equal Housing Lender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33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761980"/>
            <a:ext cx="10972527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ontserrat"/>
              </a:rPr>
              <a:t>Let’s build your plan.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584" y="1904951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584" y="2349440"/>
            <a:ext cx="6349841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Montserrat"/>
              </a:rPr>
              <a:t>Seth Angell</a:t>
            </a:r>
          </a:p>
          <a:p>
            <a:pPr algn="l">
              <a:spcBef>
                <a:spcPts val="200"/>
              </a:spcBef>
              <a:spcAft>
                <a:spcPts val="1800"/>
              </a:spcAft>
            </a:pPr>
            <a:r>
              <a:rPr sz="1300" b="0">
                <a:solidFill>
                  <a:srgbClr val="D6DEDA"/>
                </a:solidFill>
                <a:latin typeface="Open Sans"/>
              </a:rPr>
              <a:t>Executive VP · NMLS# 912881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b="1" sz="1100">
                <a:solidFill>
                  <a:srgbClr val="8CC63E"/>
                </a:solidFill>
                <a:latin typeface="Montserrat"/>
              </a:rPr>
              <a:t>CALL   </a:t>
            </a:r>
            <a:r>
              <a:rPr sz="1500">
                <a:solidFill>
                  <a:srgbClr val="FFFFFF"/>
                </a:solidFill>
                <a:latin typeface="Open Sans"/>
              </a:rPr>
              <a:t>[ PHONE ]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b="1" sz="1100">
                <a:solidFill>
                  <a:srgbClr val="8CC63E"/>
                </a:solidFill>
                <a:latin typeface="Montserrat"/>
              </a:rPr>
              <a:t>EMAIL   </a:t>
            </a:r>
            <a:r>
              <a:rPr sz="1500">
                <a:solidFill>
                  <a:srgbClr val="FFFFFF"/>
                </a:solidFill>
                <a:latin typeface="Open Sans"/>
              </a:rPr>
              <a:t>info@msfgmortgage.com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b="1" sz="1100">
                <a:solidFill>
                  <a:srgbClr val="8CC63E"/>
                </a:solidFill>
                <a:latin typeface="Montserrat"/>
              </a:rPr>
              <a:t>WEB   </a:t>
            </a:r>
            <a:r>
              <a:rPr sz="1500">
                <a:solidFill>
                  <a:srgbClr val="FFFFFF"/>
                </a:solidFill>
                <a:latin typeface="Open Sans"/>
              </a:rPr>
              <a:t>msfg.us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584" y="4318064"/>
            <a:ext cx="2730431" cy="571485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0C3335"/>
                </a:solidFill>
                <a:latin typeface="Montserrat"/>
              </a:rPr>
              <a:t>APPLY NOW  [ LINK ]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84" y="5016547"/>
            <a:ext cx="3555911" cy="571485"/>
          </a:xfrm>
          <a:prstGeom prst="rect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SCHEDULE A CONSULTATION  [ LINK ]</a:t>
            </a:r>
          </a:p>
        </p:txBody>
      </p:sp>
      <p:pic>
        <p:nvPicPr>
          <p:cNvPr id="7" name="Picture 6" descr="qr-se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5784" y="1333465"/>
            <a:ext cx="2666933" cy="2666933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09584" y="5651531"/>
            <a:ext cx="10972527" cy="9525"/>
          </a:xfrm>
          <a:prstGeom prst="rect">
            <a:avLst/>
          </a:prstGeom>
          <a:solidFill>
            <a:srgbClr val="2A4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584" y="5791227"/>
            <a:ext cx="1904952" cy="71118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-horizon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280" y="5905524"/>
            <a:ext cx="1162867" cy="48258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62302" y="5842026"/>
            <a:ext cx="7619809" cy="634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A9B6B1"/>
                </a:solidFill>
                <a:latin typeface="Open Sans"/>
              </a:rPr>
              <a:t>Mountain State Financial Group, LLC · NMLS# 1314257 · msfg.us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6B1"/>
                </a:solidFill>
                <a:latin typeface="Open Sans"/>
              </a:rPr>
              <a:t>Licensed in CO, ND, SD, MN, MI, IL, TX · Equal Housing Lender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904952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84" y="355591"/>
            <a:ext cx="9702559" cy="13969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8CC63E"/>
                </a:solidFill>
                <a:latin typeface="Montserrat"/>
              </a:rPr>
              <a:t>THE MYTH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Montserrat"/>
              </a:rPr>
              <a:t>You need 20% 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587460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2285942"/>
            <a:ext cx="10972527" cy="4444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C3335"/>
                </a:solidFill>
                <a:latin typeface="Montserrat"/>
              </a:rPr>
              <a:t>The reality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Conventional goes as low as </a:t>
            </a:r>
            <a:r>
              <a:rPr sz="1300" b="1">
                <a:solidFill>
                  <a:srgbClr val="404041"/>
                </a:solidFill>
                <a:latin typeface="Open Sans"/>
              </a:rPr>
              <a:t>3%</a:t>
            </a:r>
            <a:r>
              <a:rPr sz="1300" b="0">
                <a:solidFill>
                  <a:srgbClr val="404041"/>
                </a:solidFill>
                <a:latin typeface="Open Sans"/>
              </a:rPr>
              <a:t>, FHA </a:t>
            </a:r>
            <a:r>
              <a:rPr sz="1300" b="1">
                <a:solidFill>
                  <a:srgbClr val="404041"/>
                </a:solidFill>
                <a:latin typeface="Open Sans"/>
              </a:rPr>
              <a:t>3.5%</a:t>
            </a:r>
            <a:r>
              <a:rPr sz="1300" b="0">
                <a:solidFill>
                  <a:srgbClr val="404041"/>
                </a:solidFill>
                <a:latin typeface="Open Sans"/>
              </a:rPr>
              <a:t>, VA and USDA </a:t>
            </a:r>
            <a:r>
              <a:rPr sz="1300" b="1">
                <a:solidFill>
                  <a:srgbClr val="404041"/>
                </a:solidFill>
                <a:latin typeface="Open Sans"/>
              </a:rPr>
              <a:t>0%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The median first-time buyer puts down far less than 20%</a:t>
            </a:r>
          </a:p>
          <a:p>
            <a:pPr algn="l">
              <a:spcBef>
                <a:spcPts val="1800"/>
              </a:spcBef>
              <a:spcAft>
                <a:spcPts val="1000"/>
              </a:spcAft>
            </a:pPr>
            <a:r>
              <a:rPr sz="1100" b="1">
                <a:solidFill>
                  <a:srgbClr val="4B7B4D"/>
                </a:solidFill>
                <a:latin typeface="Montserrat"/>
              </a:rPr>
              <a:t>+  Pros of 20% down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B7B4D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No monthly mortgage insurance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B7B4D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Lower payment and more instant equity</a:t>
            </a:r>
          </a:p>
          <a:p>
            <a:pPr algn="l">
              <a:spcBef>
                <a:spcPts val="1800"/>
              </a:spcBef>
              <a:spcAft>
                <a:spcPts val="1000"/>
              </a:spcAft>
            </a:pPr>
            <a:r>
              <a:rPr sz="1100" b="1">
                <a:solidFill>
                  <a:srgbClr val="404041"/>
                </a:solidFill>
                <a:latin typeface="Montserrat"/>
              </a:rPr>
              <a:t>–  Cons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04041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Years of saving while rent builds no equity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04041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Drains the cash reserve you want after closing</a:t>
            </a:r>
          </a:p>
          <a:p>
            <a:pPr algn="l">
              <a:spcBef>
                <a:spcPts val="1400"/>
              </a:spcBef>
              <a:spcAft>
                <a:spcPts val="800"/>
              </a:spcAft>
            </a:pPr>
            <a:r>
              <a:t>  </a:t>
            </a:r>
            <a:r>
              <a:rPr sz="1300" b="0">
                <a:solidFill>
                  <a:srgbClr val="0C3335"/>
                </a:solidFill>
                <a:latin typeface="Open Sans"/>
              </a:rPr>
              <a:t>Mortgage insurance on a conventional loan is </a:t>
            </a:r>
            <a:r>
              <a:rPr sz="1300" b="1">
                <a:solidFill>
                  <a:srgbClr val="0C3335"/>
                </a:solidFill>
                <a:latin typeface="Open Sans"/>
              </a:rPr>
              <a:t>removable</a:t>
            </a:r>
            <a:r>
              <a:rPr sz="1300" b="0">
                <a:solidFill>
                  <a:srgbClr val="0C3335"/>
                </a:solidFill>
                <a:latin typeface="Open Sans"/>
              </a:rPr>
              <a:t> — a phase, not a sentence.</a:t>
            </a:r>
          </a:p>
        </p:txBody>
      </p:sp>
      <p:sp>
        <p:nvSpPr>
          <p:cNvPr id="6" name="Rectangle 5">
            <a:hlinkClick action="ppaction://hlinksldjump" r:id="rId2"/>
          </p:cNvPr>
          <p:cNvSpPr/>
          <p:nvPr/>
        </p:nvSpPr>
        <p:spPr>
          <a:xfrm>
            <a:off x="609584" y="6096020"/>
            <a:ext cx="1523961" cy="457188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‹  Back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904952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84" y="355591"/>
            <a:ext cx="9702559" cy="13969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8CC63E"/>
                </a:solidFill>
                <a:latin typeface="Montserrat"/>
              </a:rPr>
              <a:t>THE MYTH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Montserrat"/>
              </a:rPr>
              <a:t>FHA is only for first-time buyers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587460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2285942"/>
            <a:ext cx="10972527" cy="4444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C3335"/>
                </a:solidFill>
                <a:latin typeface="Montserrat"/>
              </a:rPr>
              <a:t>The reality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1">
                <a:solidFill>
                  <a:srgbClr val="404041"/>
                </a:solidFill>
                <a:latin typeface="Open Sans"/>
              </a:rPr>
              <a:t>FHA has no first-time buyer requirement</a:t>
            </a:r>
            <a:r>
              <a:rPr sz="1300" b="0">
                <a:solidFill>
                  <a:srgbClr val="404041"/>
                </a:solidFill>
                <a:latin typeface="Open Sans"/>
              </a:rPr>
              <a:t> — anyone eligible can use it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It’s a primary-residence program, not a first-timer program</a:t>
            </a:r>
          </a:p>
          <a:p>
            <a:pPr algn="l">
              <a:spcBef>
                <a:spcPts val="1800"/>
              </a:spcBef>
              <a:spcAft>
                <a:spcPts val="1000"/>
              </a:spcAft>
            </a:pPr>
            <a:r>
              <a:rPr sz="1100" b="1">
                <a:solidFill>
                  <a:srgbClr val="4B7B4D"/>
                </a:solidFill>
                <a:latin typeface="Montserrat"/>
              </a:rPr>
              <a:t>+  Pros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B7B4D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More forgiving on credit and past events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B7B4D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Higher DTI tolerance · assumable</a:t>
            </a:r>
          </a:p>
          <a:p>
            <a:pPr algn="l">
              <a:spcBef>
                <a:spcPts val="1800"/>
              </a:spcBef>
              <a:spcAft>
                <a:spcPts val="1000"/>
              </a:spcAft>
            </a:pPr>
            <a:r>
              <a:rPr sz="1100" b="1">
                <a:solidFill>
                  <a:srgbClr val="404041"/>
                </a:solidFill>
                <a:latin typeface="Montserrat"/>
              </a:rPr>
              <a:t>–  Cons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04041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MI often lasts the life of the loan under 10% down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04041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Upfront premium added to the balance</a:t>
            </a:r>
          </a:p>
        </p:txBody>
      </p:sp>
      <p:sp>
        <p:nvSpPr>
          <p:cNvPr id="6" name="Rectangle 5">
            <a:hlinkClick action="ppaction://hlinksldjump" r:id="rId2"/>
          </p:cNvPr>
          <p:cNvSpPr/>
          <p:nvPr/>
        </p:nvSpPr>
        <p:spPr>
          <a:xfrm>
            <a:off x="609584" y="6096020"/>
            <a:ext cx="1523961" cy="457188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‹  Back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904952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84" y="355591"/>
            <a:ext cx="9702559" cy="13969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8CC63E"/>
                </a:solidFill>
                <a:latin typeface="Montserrat"/>
              </a:rPr>
              <a:t>THE MYTH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Montserrat"/>
              </a:rPr>
              <a:t>You need perfect credit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587460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2285942"/>
            <a:ext cx="10972527" cy="4444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C3335"/>
                </a:solidFill>
                <a:latin typeface="Montserrat"/>
              </a:rPr>
              <a:t>The reality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Pricing moves in </a:t>
            </a:r>
            <a:r>
              <a:rPr sz="1300" b="1">
                <a:solidFill>
                  <a:srgbClr val="404041"/>
                </a:solidFill>
                <a:latin typeface="Open Sans"/>
              </a:rPr>
              <a:t>tiers</a:t>
            </a:r>
            <a:r>
              <a:rPr sz="1300" b="0">
                <a:solidFill>
                  <a:srgbClr val="404041"/>
                </a:solidFill>
                <a:latin typeface="Open Sans"/>
              </a:rPr>
              <a:t> — near an edge matters, mid-tier often doesn’t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FHA and VA reach meaningfully lower than conventional</a:t>
            </a:r>
          </a:p>
          <a:p>
            <a:pPr algn="l">
              <a:spcBef>
                <a:spcPts val="1800"/>
              </a:spcBef>
              <a:spcAft>
                <a:spcPts val="1000"/>
              </a:spcAft>
            </a:pPr>
            <a:r>
              <a:rPr sz="1100" b="1">
                <a:solidFill>
                  <a:srgbClr val="4B7B4D"/>
                </a:solidFill>
                <a:latin typeface="Montserrat"/>
              </a:rPr>
              <a:t>+  Pros of a higher score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B7B4D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Better pricing, lower MI, more program options</a:t>
            </a:r>
          </a:p>
          <a:p>
            <a:pPr algn="l">
              <a:spcBef>
                <a:spcPts val="1800"/>
              </a:spcBef>
              <a:spcAft>
                <a:spcPts val="1000"/>
              </a:spcAft>
            </a:pPr>
            <a:r>
              <a:rPr sz="1100" b="1">
                <a:solidFill>
                  <a:srgbClr val="404041"/>
                </a:solidFill>
                <a:latin typeface="Montserrat"/>
              </a:rPr>
              <a:t>–  Cons of waiting for "perfect"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04041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Prices and rents keep moving while you chase a number</a:t>
            </a:r>
          </a:p>
          <a:p>
            <a:pPr algn="l">
              <a:spcBef>
                <a:spcPts val="1400"/>
              </a:spcBef>
              <a:spcAft>
                <a:spcPts val="800"/>
              </a:spcAft>
            </a:pPr>
            <a:r>
              <a:t>  </a:t>
            </a:r>
            <a:r>
              <a:rPr sz="1300" b="1">
                <a:solidFill>
                  <a:srgbClr val="0C3335"/>
                </a:solidFill>
                <a:latin typeface="Open Sans"/>
              </a:rPr>
              <a:t>Utilization</a:t>
            </a:r>
            <a:r>
              <a:rPr sz="1300" b="0">
                <a:solidFill>
                  <a:srgbClr val="0C3335"/>
                </a:solidFill>
                <a:latin typeface="Open Sans"/>
              </a:rPr>
              <a:t> is ~30% of the score and can move in one cycle. Don’t close old cards.</a:t>
            </a:r>
          </a:p>
        </p:txBody>
      </p:sp>
      <p:sp>
        <p:nvSpPr>
          <p:cNvPr id="6" name="Rectangle 5">
            <a:hlinkClick action="ppaction://hlinksldjump" r:id="rId2"/>
          </p:cNvPr>
          <p:cNvSpPr/>
          <p:nvPr/>
        </p:nvSpPr>
        <p:spPr>
          <a:xfrm>
            <a:off x="609584" y="6096020"/>
            <a:ext cx="1523961" cy="457188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‹  Back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904952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84" y="355591"/>
            <a:ext cx="9702559" cy="13969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8CC63E"/>
                </a:solidFill>
                <a:latin typeface="Montserrat"/>
              </a:rPr>
              <a:t>THE MYTH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Montserrat"/>
              </a:rPr>
              <a:t>Renting is always cheaper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587460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2285942"/>
            <a:ext cx="10972527" cy="4444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C3335"/>
                </a:solidFill>
                <a:latin typeface="Montserrat"/>
              </a:rPr>
              <a:t>The reality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Rent generally rises; a fixed principal &amp; interest payment doesn’t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Ownership builds equity — rent doesn’t</a:t>
            </a:r>
          </a:p>
          <a:p>
            <a:pPr algn="l">
              <a:spcBef>
                <a:spcPts val="1800"/>
              </a:spcBef>
              <a:spcAft>
                <a:spcPts val="1000"/>
              </a:spcAft>
            </a:pPr>
            <a:r>
              <a:rPr sz="1100" b="1">
                <a:solidFill>
                  <a:srgbClr val="4B7B4D"/>
                </a:solidFill>
                <a:latin typeface="Montserrat"/>
              </a:rPr>
              <a:t>+  Pros of renting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B7B4D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Flexibility, no maintenance, no transaction costs</a:t>
            </a:r>
          </a:p>
          <a:p>
            <a:pPr algn="l">
              <a:spcBef>
                <a:spcPts val="1800"/>
              </a:spcBef>
              <a:spcAft>
                <a:spcPts val="1000"/>
              </a:spcAft>
            </a:pPr>
            <a:r>
              <a:rPr sz="1100" b="1">
                <a:solidFill>
                  <a:srgbClr val="404041"/>
                </a:solidFill>
                <a:latin typeface="Montserrat"/>
              </a:rPr>
              <a:t>–  Cons of renting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04041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No equity, no fixed housing cost, no control over increases</a:t>
            </a:r>
          </a:p>
          <a:p>
            <a:pPr algn="l">
              <a:spcBef>
                <a:spcPts val="1400"/>
              </a:spcBef>
              <a:spcAft>
                <a:spcPts val="800"/>
              </a:spcAft>
            </a:pPr>
            <a:r>
              <a:t>  </a:t>
            </a:r>
            <a:r>
              <a:rPr sz="1300" b="0">
                <a:solidFill>
                  <a:srgbClr val="0C3335"/>
                </a:solidFill>
                <a:latin typeface="Open Sans"/>
              </a:rPr>
              <a:t>Short horizon, renting can win; long horizon, ownership usually does.</a:t>
            </a:r>
          </a:p>
        </p:txBody>
      </p:sp>
      <p:sp>
        <p:nvSpPr>
          <p:cNvPr id="6" name="Rectangle 5">
            <a:hlinkClick action="ppaction://hlinksldjump" r:id="rId2"/>
          </p:cNvPr>
          <p:cNvSpPr/>
          <p:nvPr/>
        </p:nvSpPr>
        <p:spPr>
          <a:xfrm>
            <a:off x="609584" y="6096020"/>
            <a:ext cx="1523961" cy="457188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‹  Back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904952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84" y="355591"/>
            <a:ext cx="9702559" cy="13969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8CC63E"/>
                </a:solidFill>
                <a:latin typeface="Montserrat"/>
              </a:rPr>
              <a:t>THE MYTH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Montserrat"/>
              </a:rPr>
              <a:t>The lowest rate is the best deal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587460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2285942"/>
            <a:ext cx="10972527" cy="4444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C3335"/>
                </a:solidFill>
                <a:latin typeface="Montserrat"/>
              </a:rPr>
              <a:t>The reality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A lower rate is often </a:t>
            </a:r>
            <a:r>
              <a:rPr sz="1300" b="1">
                <a:solidFill>
                  <a:srgbClr val="404041"/>
                </a:solidFill>
                <a:latin typeface="Open Sans"/>
              </a:rPr>
              <a:t>bought</a:t>
            </a:r>
            <a:r>
              <a:rPr sz="1300" b="0">
                <a:solidFill>
                  <a:srgbClr val="404041"/>
                </a:solidFill>
                <a:latin typeface="Open Sans"/>
              </a:rPr>
              <a:t> with points paid at closing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The lowest rate and the lowest cost are frequently not the same loan</a:t>
            </a:r>
          </a:p>
          <a:p>
            <a:pPr algn="l">
              <a:spcBef>
                <a:spcPts val="1800"/>
              </a:spcBef>
              <a:spcAft>
                <a:spcPts val="1000"/>
              </a:spcAft>
            </a:pPr>
            <a:r>
              <a:rPr sz="1100" b="1">
                <a:solidFill>
                  <a:srgbClr val="4B7B4D"/>
                </a:solidFill>
                <a:latin typeface="Montserrat"/>
              </a:rPr>
              <a:t>+  Pros of a lower rate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B7B4D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Lower payment and less interest over a long hold</a:t>
            </a:r>
          </a:p>
          <a:p>
            <a:pPr algn="l">
              <a:spcBef>
                <a:spcPts val="1800"/>
              </a:spcBef>
              <a:spcAft>
                <a:spcPts val="1000"/>
              </a:spcAft>
            </a:pPr>
            <a:r>
              <a:rPr sz="1100" b="1">
                <a:solidFill>
                  <a:srgbClr val="404041"/>
                </a:solidFill>
                <a:latin typeface="Montserrat"/>
              </a:rPr>
              <a:t>–  Cons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04041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Points are cash today — gone if you sell or refinance early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04041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Chasing rate can hide high lender fees</a:t>
            </a:r>
          </a:p>
          <a:p>
            <a:pPr algn="l">
              <a:spcBef>
                <a:spcPts val="1400"/>
              </a:spcBef>
              <a:spcAft>
                <a:spcPts val="800"/>
              </a:spcAft>
            </a:pPr>
            <a:r>
              <a:t>  </a:t>
            </a:r>
            <a:r>
              <a:rPr sz="1300" b="0">
                <a:solidFill>
                  <a:srgbClr val="0C3335"/>
                </a:solidFill>
                <a:latin typeface="Open Sans"/>
              </a:rPr>
              <a:t>Ask for </a:t>
            </a:r>
            <a:r>
              <a:rPr sz="1300" b="1">
                <a:solidFill>
                  <a:srgbClr val="0C3335"/>
                </a:solidFill>
                <a:latin typeface="Open Sans"/>
              </a:rPr>
              <a:t>rate AND total cost</a:t>
            </a:r>
            <a:r>
              <a:rPr sz="1300" b="0">
                <a:solidFill>
                  <a:srgbClr val="0C3335"/>
                </a:solidFill>
                <a:latin typeface="Open Sans"/>
              </a:rPr>
              <a:t>, and compare Loan Estimates from the same day.</a:t>
            </a:r>
          </a:p>
        </p:txBody>
      </p:sp>
      <p:sp>
        <p:nvSpPr>
          <p:cNvPr id="6" name="Rectangle 5">
            <a:hlinkClick action="ppaction://hlinksldjump" r:id="rId2"/>
          </p:cNvPr>
          <p:cNvSpPr/>
          <p:nvPr/>
        </p:nvSpPr>
        <p:spPr>
          <a:xfrm>
            <a:off x="609584" y="6096020"/>
            <a:ext cx="1523961" cy="457188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‹  Back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904952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84" y="355591"/>
            <a:ext cx="9702559" cy="13969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8CC63E"/>
                </a:solidFill>
                <a:latin typeface="Montserrat"/>
              </a:rPr>
              <a:t>LOAN PROGRAM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Montserrat"/>
              </a:rPr>
              <a:t>Conventional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587460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2285942"/>
            <a:ext cx="10972527" cy="4444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C3335"/>
                </a:solidFill>
                <a:latin typeface="Montserrat"/>
              </a:rPr>
              <a:t>Who it fits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Solid credit, steady documented income · as low as 3% down</a:t>
            </a:r>
          </a:p>
          <a:p>
            <a:pPr algn="l">
              <a:spcBef>
                <a:spcPts val="1800"/>
              </a:spcBef>
              <a:spcAft>
                <a:spcPts val="1000"/>
              </a:spcAft>
            </a:pPr>
            <a:r>
              <a:rPr sz="1100" b="1">
                <a:solidFill>
                  <a:srgbClr val="4B7B4D"/>
                </a:solidFill>
                <a:latin typeface="Montserrat"/>
              </a:rPr>
              <a:t>+  Pros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B7B4D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MI comes off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B7B4D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Best pricing at strong credit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B7B4D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Widest property flexibility</a:t>
            </a:r>
          </a:p>
          <a:p>
            <a:pPr algn="l">
              <a:spcBef>
                <a:spcPts val="1800"/>
              </a:spcBef>
              <a:spcAft>
                <a:spcPts val="1000"/>
              </a:spcAft>
            </a:pPr>
            <a:r>
              <a:rPr sz="1100" b="1">
                <a:solidFill>
                  <a:srgbClr val="404041"/>
                </a:solidFill>
                <a:latin typeface="Montserrat"/>
              </a:rPr>
              <a:t>–  Cons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04041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Least forgiving on credit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04041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Less tolerant of recent derogatory history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584" y="5524534"/>
            <a:ext cx="10972527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A7370"/>
                </a:solidFill>
                <a:latin typeface="Open Sans"/>
              </a:rPr>
              <a:t>General guidelines only. Actual eligibility depends on full underwriting, credit, property, and lender overlays.</a:t>
            </a:r>
          </a:p>
        </p:txBody>
      </p:sp>
      <p:sp>
        <p:nvSpPr>
          <p:cNvPr id="7" name="Rectangle 6">
            <a:hlinkClick action="ppaction://hlinksldjump" r:id="rId2"/>
          </p:cNvPr>
          <p:cNvSpPr/>
          <p:nvPr/>
        </p:nvSpPr>
        <p:spPr>
          <a:xfrm>
            <a:off x="609584" y="6096020"/>
            <a:ext cx="1523961" cy="457188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‹  Back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904952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84" y="355591"/>
            <a:ext cx="9702559" cy="13969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8CC63E"/>
                </a:solidFill>
                <a:latin typeface="Montserrat"/>
              </a:rPr>
              <a:t>LOAN PROGRAM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Montserrat"/>
              </a:rPr>
              <a:t>FHA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587460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2285942"/>
            <a:ext cx="10972527" cy="4444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C3335"/>
                </a:solidFill>
                <a:latin typeface="Montserrat"/>
              </a:rPr>
              <a:t>Who it fits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Rebuilding credit or a higher debt load · 3.5% down</a:t>
            </a:r>
          </a:p>
          <a:p>
            <a:pPr algn="l">
              <a:spcBef>
                <a:spcPts val="1800"/>
              </a:spcBef>
              <a:spcAft>
                <a:spcPts val="1000"/>
              </a:spcAft>
            </a:pPr>
            <a:r>
              <a:rPr sz="1100" b="1">
                <a:solidFill>
                  <a:srgbClr val="4B7B4D"/>
                </a:solidFill>
                <a:latin typeface="Montserrat"/>
              </a:rPr>
              <a:t>+  Pros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B7B4D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Lower credit thresholds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B7B4D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Higher DTI tolerance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B7B4D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Assumable</a:t>
            </a:r>
          </a:p>
          <a:p>
            <a:pPr algn="l">
              <a:spcBef>
                <a:spcPts val="1800"/>
              </a:spcBef>
              <a:spcAft>
                <a:spcPts val="1000"/>
              </a:spcAft>
            </a:pPr>
            <a:r>
              <a:rPr sz="1100" b="1">
                <a:solidFill>
                  <a:srgbClr val="404041"/>
                </a:solidFill>
                <a:latin typeface="Montserrat"/>
              </a:rPr>
              <a:t>–  Cons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04041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MI usually lasts the life of the loan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04041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Upfront premium added to the balance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584" y="5524534"/>
            <a:ext cx="10972527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A7370"/>
                </a:solidFill>
                <a:latin typeface="Open Sans"/>
              </a:rPr>
              <a:t>General guidelines only. Actual eligibility depends on full underwriting, credit, property, and lender overlays.</a:t>
            </a:r>
          </a:p>
        </p:txBody>
      </p:sp>
      <p:sp>
        <p:nvSpPr>
          <p:cNvPr id="7" name="Rectangle 6">
            <a:hlinkClick action="ppaction://hlinksldjump" r:id="rId2"/>
          </p:cNvPr>
          <p:cNvSpPr/>
          <p:nvPr/>
        </p:nvSpPr>
        <p:spPr>
          <a:xfrm>
            <a:off x="609584" y="6096020"/>
            <a:ext cx="1523961" cy="457188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‹  Back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904952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84" y="355591"/>
            <a:ext cx="9702559" cy="13969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8CC63E"/>
                </a:solidFill>
                <a:latin typeface="Montserrat"/>
              </a:rPr>
              <a:t>LOAN PROGRAM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Montserrat"/>
              </a:rPr>
              <a:t>VA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587460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2285942"/>
            <a:ext cx="10972527" cy="4444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C3335"/>
                </a:solidFill>
                <a:latin typeface="Montserrat"/>
              </a:rPr>
              <a:t>Who it fits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Eligible service members, veterans, and certain spouses · 0% down</a:t>
            </a:r>
          </a:p>
          <a:p>
            <a:pPr algn="l">
              <a:spcBef>
                <a:spcPts val="1800"/>
              </a:spcBef>
              <a:spcAft>
                <a:spcPts val="1000"/>
              </a:spcAft>
            </a:pPr>
            <a:r>
              <a:rPr sz="1100" b="1">
                <a:solidFill>
                  <a:srgbClr val="4B7B4D"/>
                </a:solidFill>
                <a:latin typeface="Montserrat"/>
              </a:rPr>
              <a:t>+  Pros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B7B4D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No down payment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B7B4D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No monthly MI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B7B4D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Reusable — not once per lifetime</a:t>
            </a:r>
          </a:p>
          <a:p>
            <a:pPr algn="l">
              <a:spcBef>
                <a:spcPts val="1800"/>
              </a:spcBef>
              <a:spcAft>
                <a:spcPts val="1000"/>
              </a:spcAft>
            </a:pPr>
            <a:r>
              <a:rPr sz="1100" b="1">
                <a:solidFill>
                  <a:srgbClr val="404041"/>
                </a:solidFill>
                <a:latin typeface="Montserrat"/>
              </a:rPr>
              <a:t>–  Cons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04041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A funding fee applies (financeable; waived for some)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04041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Stricter property standards</a:t>
            </a:r>
          </a:p>
          <a:p>
            <a:pPr algn="l">
              <a:spcBef>
                <a:spcPts val="1400"/>
              </a:spcBef>
              <a:spcAft>
                <a:spcPts val="800"/>
              </a:spcAft>
            </a:pPr>
            <a:r>
              <a:t>  </a:t>
            </a:r>
            <a:r>
              <a:rPr sz="1300" b="0">
                <a:solidFill>
                  <a:srgbClr val="0C3335"/>
                </a:solidFill>
                <a:latin typeface="Open Sans"/>
              </a:rPr>
              <a:t>If anyone in the household served — including a spouse — </a:t>
            </a:r>
            <a:r>
              <a:rPr sz="1300" b="1">
                <a:solidFill>
                  <a:srgbClr val="0C3335"/>
                </a:solidFill>
                <a:latin typeface="Open Sans"/>
              </a:rPr>
              <a:t>ask.</a:t>
            </a:r>
            <a:r>
              <a:rPr sz="1300" b="0">
                <a:solidFill>
                  <a:srgbClr val="0C3335"/>
                </a:solidFill>
                <a:latin typeface="Open Sans"/>
              </a:rPr>
              <a:t> It usually counts.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584" y="5524534"/>
            <a:ext cx="10972527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A7370"/>
                </a:solidFill>
                <a:latin typeface="Open Sans"/>
              </a:rPr>
              <a:t>General guidelines only. Actual eligibility depends on full underwriting, credit, property, and lender overlays.</a:t>
            </a:r>
          </a:p>
        </p:txBody>
      </p:sp>
      <p:sp>
        <p:nvSpPr>
          <p:cNvPr id="7" name="Rectangle 6">
            <a:hlinkClick action="ppaction://hlinksldjump" r:id="rId2"/>
          </p:cNvPr>
          <p:cNvSpPr/>
          <p:nvPr/>
        </p:nvSpPr>
        <p:spPr>
          <a:xfrm>
            <a:off x="609584" y="6096020"/>
            <a:ext cx="1523961" cy="457188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‹  Back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904952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84" y="355591"/>
            <a:ext cx="9702559" cy="13969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8CC63E"/>
                </a:solidFill>
                <a:latin typeface="Montserrat"/>
              </a:rPr>
              <a:t>LOAN PROGRAM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Montserrat"/>
              </a:rPr>
              <a:t>USDA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587460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2285942"/>
            <a:ext cx="10972527" cy="4444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C3335"/>
                </a:solidFill>
                <a:latin typeface="Montserrat"/>
              </a:rPr>
              <a:t>Who it fits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Eligible area, under the household income limit · 0% down</a:t>
            </a:r>
          </a:p>
          <a:p>
            <a:pPr algn="l">
              <a:spcBef>
                <a:spcPts val="1800"/>
              </a:spcBef>
              <a:spcAft>
                <a:spcPts val="1000"/>
              </a:spcAft>
            </a:pPr>
            <a:r>
              <a:rPr sz="1100" b="1">
                <a:solidFill>
                  <a:srgbClr val="4B7B4D"/>
                </a:solidFill>
                <a:latin typeface="Montserrat"/>
              </a:rPr>
              <a:t>+  Pros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B7B4D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No down payment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B7B4D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Annual fee often lower than FHA</a:t>
            </a:r>
          </a:p>
          <a:p>
            <a:pPr algn="l">
              <a:spcBef>
                <a:spcPts val="1800"/>
              </a:spcBef>
              <a:spcAft>
                <a:spcPts val="1000"/>
              </a:spcAft>
            </a:pPr>
            <a:r>
              <a:rPr sz="1100" b="1">
                <a:solidFill>
                  <a:srgbClr val="404041"/>
                </a:solidFill>
                <a:latin typeface="Montserrat"/>
              </a:rPr>
              <a:t>–  Cons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04041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Geography decides — check the map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04041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Income limits count everyone in the home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584" y="5524534"/>
            <a:ext cx="10972527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A7370"/>
                </a:solidFill>
                <a:latin typeface="Open Sans"/>
              </a:rPr>
              <a:t>General guidelines only. Actual eligibility depends on full underwriting, credit, property, and lender overlays.</a:t>
            </a:r>
          </a:p>
        </p:txBody>
      </p:sp>
      <p:sp>
        <p:nvSpPr>
          <p:cNvPr id="7" name="Rectangle 6">
            <a:hlinkClick action="ppaction://hlinksldjump" r:id="rId2"/>
          </p:cNvPr>
          <p:cNvSpPr/>
          <p:nvPr/>
        </p:nvSpPr>
        <p:spPr>
          <a:xfrm>
            <a:off x="609584" y="6096020"/>
            <a:ext cx="1523961" cy="457188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‹  Back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904952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84" y="355591"/>
            <a:ext cx="9702559" cy="13969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8CC63E"/>
                </a:solidFill>
                <a:latin typeface="Montserrat"/>
              </a:rPr>
              <a:t>LOAN PROGRAM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Montserrat"/>
              </a:rPr>
              <a:t>Jumbo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587460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2285942"/>
            <a:ext cx="10972527" cy="4444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C3335"/>
                </a:solidFill>
                <a:latin typeface="Montserrat"/>
              </a:rPr>
              <a:t>Who it fits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Loan amount above the conforming limit for the county</a:t>
            </a:r>
          </a:p>
          <a:p>
            <a:pPr algn="l">
              <a:spcBef>
                <a:spcPts val="1800"/>
              </a:spcBef>
              <a:spcAft>
                <a:spcPts val="1000"/>
              </a:spcAft>
            </a:pPr>
            <a:r>
              <a:rPr sz="1100" b="1">
                <a:solidFill>
                  <a:srgbClr val="4B7B4D"/>
                </a:solidFill>
                <a:latin typeface="Montserrat"/>
              </a:rPr>
              <a:t>+  Pros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B7B4D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Finances higher-priced homes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B7B4D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Flexible structures available</a:t>
            </a:r>
          </a:p>
          <a:p>
            <a:pPr algn="l">
              <a:spcBef>
                <a:spcPts val="1800"/>
              </a:spcBef>
              <a:spcAft>
                <a:spcPts val="1000"/>
              </a:spcAft>
            </a:pPr>
            <a:r>
              <a:rPr sz="1100" b="1">
                <a:solidFill>
                  <a:srgbClr val="404041"/>
                </a:solidFill>
                <a:latin typeface="Montserrat"/>
              </a:rPr>
              <a:t>–  Cons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04041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Strongest credit and reserves expected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04041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Rules vary a lot by investor — shop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584" y="5524534"/>
            <a:ext cx="10972527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A7370"/>
                </a:solidFill>
                <a:latin typeface="Open Sans"/>
              </a:rPr>
              <a:t>General guidelines only. Actual eligibility depends on full underwriting, credit, property, and lender overlays.</a:t>
            </a:r>
          </a:p>
        </p:txBody>
      </p:sp>
      <p:sp>
        <p:nvSpPr>
          <p:cNvPr id="7" name="Rectangle 6">
            <a:hlinkClick action="ppaction://hlinksldjump" r:id="rId2"/>
          </p:cNvPr>
          <p:cNvSpPr/>
          <p:nvPr/>
        </p:nvSpPr>
        <p:spPr>
          <a:xfrm>
            <a:off x="609584" y="6096020"/>
            <a:ext cx="1523961" cy="457188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‹  Back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904952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84" y="355591"/>
            <a:ext cx="9702559" cy="13969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8CC63E"/>
                </a:solidFill>
                <a:latin typeface="Montserrat"/>
              </a:rPr>
              <a:t>WHERE IT COMES FROM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Montserrat"/>
              </a:rPr>
              <a:t>Savings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587460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2285942"/>
            <a:ext cx="10972527" cy="4444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C3335"/>
                </a:solidFill>
                <a:latin typeface="Montserrat"/>
              </a:rPr>
              <a:t>The rules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Must be </a:t>
            </a:r>
            <a:r>
              <a:rPr sz="1300" b="1">
                <a:solidFill>
                  <a:srgbClr val="404041"/>
                </a:solidFill>
                <a:latin typeface="Open Sans"/>
              </a:rPr>
              <a:t>seasoned</a:t>
            </a:r>
            <a:r>
              <a:rPr sz="1300" b="0">
                <a:solidFill>
                  <a:srgbClr val="404041"/>
                </a:solidFill>
                <a:latin typeface="Open Sans"/>
              </a:rPr>
              <a:t> — sitting in your account, documented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1">
                <a:solidFill>
                  <a:srgbClr val="404041"/>
                </a:solidFill>
                <a:latin typeface="Open Sans"/>
              </a:rPr>
              <a:t>No undocumented cash.</a:t>
            </a:r>
            <a:r>
              <a:rPr sz="1300" b="0">
                <a:solidFill>
                  <a:srgbClr val="404041"/>
                </a:solidFill>
                <a:latin typeface="Open Sans"/>
              </a:rPr>
              <a:t> Cash deposits without a trail can’t be used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Large non-payroll deposits must be sourced and explained</a:t>
            </a:r>
          </a:p>
          <a:p>
            <a:pPr algn="l">
              <a:spcBef>
                <a:spcPts val="1400"/>
              </a:spcBef>
              <a:spcAft>
                <a:spcPts val="800"/>
              </a:spcAft>
            </a:pPr>
            <a:r>
              <a:t>  </a:t>
            </a:r>
            <a:r>
              <a:rPr sz="1300" b="0">
                <a:solidFill>
                  <a:srgbClr val="0C3335"/>
                </a:solidFill>
                <a:latin typeface="Open Sans"/>
              </a:rPr>
              <a:t>Move money </a:t>
            </a:r>
            <a:r>
              <a:rPr sz="1300" b="1">
                <a:solidFill>
                  <a:srgbClr val="0C3335"/>
                </a:solidFill>
                <a:latin typeface="Open Sans"/>
              </a:rPr>
              <a:t>before</a:t>
            </a:r>
            <a:r>
              <a:rPr sz="1300" b="0">
                <a:solidFill>
                  <a:srgbClr val="0C3335"/>
                </a:solidFill>
                <a:latin typeface="Open Sans"/>
              </a:rPr>
              <a:t> you apply, not during.</a:t>
            </a:r>
          </a:p>
        </p:txBody>
      </p:sp>
      <p:sp>
        <p:nvSpPr>
          <p:cNvPr id="6" name="Rectangle 5">
            <a:hlinkClick action="ppaction://hlinksldjump" r:id="rId2"/>
          </p:cNvPr>
          <p:cNvSpPr/>
          <p:nvPr/>
        </p:nvSpPr>
        <p:spPr>
          <a:xfrm>
            <a:off x="609584" y="6096020"/>
            <a:ext cx="1523961" cy="457188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‹  Back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904952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84" y="355591"/>
            <a:ext cx="9702559" cy="13969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8CC63E"/>
                </a:solidFill>
                <a:latin typeface="Montserrat"/>
              </a:rPr>
              <a:t>WHERE IT COMES FROM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Montserrat"/>
              </a:rPr>
              <a:t>Gift Funds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587460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2285942"/>
            <a:ext cx="10972527" cy="4444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C3335"/>
                </a:solidFill>
                <a:latin typeface="Montserrat"/>
              </a:rPr>
              <a:t>The rules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1">
                <a:solidFill>
                  <a:srgbClr val="404041"/>
                </a:solidFill>
                <a:latin typeface="Open Sans"/>
              </a:rPr>
              <a:t>Gift letter required</a:t>
            </a:r>
            <a:r>
              <a:rPr sz="1300" b="0">
                <a:solidFill>
                  <a:srgbClr val="404041"/>
                </a:solidFill>
                <a:latin typeface="Open Sans"/>
              </a:rPr>
              <a:t> — stating it is not a loan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Generally must come from </a:t>
            </a:r>
            <a:r>
              <a:rPr sz="1300" b="1">
                <a:solidFill>
                  <a:srgbClr val="404041"/>
                </a:solidFill>
                <a:latin typeface="Open Sans"/>
              </a:rPr>
              <a:t>family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The donor’s funds must be sourced, and the transfer documented</a:t>
            </a:r>
          </a:p>
          <a:p>
            <a:pPr algn="l">
              <a:spcBef>
                <a:spcPts val="1400"/>
              </a:spcBef>
              <a:spcAft>
                <a:spcPts val="800"/>
              </a:spcAft>
            </a:pPr>
            <a:r>
              <a:t>  </a:t>
            </a:r>
            <a:r>
              <a:rPr sz="1300" b="0">
                <a:solidFill>
                  <a:srgbClr val="0C3335"/>
                </a:solidFill>
                <a:latin typeface="Open Sans"/>
              </a:rPr>
              <a:t>Tell your lender </a:t>
            </a:r>
            <a:r>
              <a:rPr sz="1300" b="1">
                <a:solidFill>
                  <a:srgbClr val="0C3335"/>
                </a:solidFill>
                <a:latin typeface="Open Sans"/>
              </a:rPr>
              <a:t>before</a:t>
            </a:r>
            <a:r>
              <a:rPr sz="1300" b="0">
                <a:solidFill>
                  <a:srgbClr val="0C3335"/>
                </a:solidFill>
                <a:latin typeface="Open Sans"/>
              </a:rPr>
              <a:t> the money moves.</a:t>
            </a:r>
          </a:p>
        </p:txBody>
      </p:sp>
      <p:sp>
        <p:nvSpPr>
          <p:cNvPr id="6" name="Rectangle 5">
            <a:hlinkClick action="ppaction://hlinksldjump" r:id="rId2"/>
          </p:cNvPr>
          <p:cNvSpPr/>
          <p:nvPr/>
        </p:nvSpPr>
        <p:spPr>
          <a:xfrm>
            <a:off x="609584" y="6096020"/>
            <a:ext cx="1523961" cy="457188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‹  Back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904952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84" y="355591"/>
            <a:ext cx="9702559" cy="13969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8CC63E"/>
                </a:solidFill>
                <a:latin typeface="Montserrat"/>
              </a:rPr>
              <a:t>WHERE IT COMES FROM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Montserrat"/>
              </a:rPr>
              <a:t>Seller Credits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587460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2285942"/>
            <a:ext cx="10972527" cy="4444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C3335"/>
                </a:solidFill>
                <a:latin typeface="Montserrat"/>
              </a:rPr>
              <a:t>The rules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The seller contributes toward your closing costs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1">
                <a:solidFill>
                  <a:srgbClr val="404041"/>
                </a:solidFill>
                <a:latin typeface="Open Sans"/>
              </a:rPr>
              <a:t>Concession caps apply</a:t>
            </a:r>
            <a:r>
              <a:rPr sz="1300" b="0">
                <a:solidFill>
                  <a:srgbClr val="404041"/>
                </a:solidFill>
                <a:latin typeface="Open Sans"/>
              </a:rPr>
              <a:t> by program and down payment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Cannot pay your down payment or exceed your actual costs</a:t>
            </a:r>
          </a:p>
          <a:p>
            <a:pPr algn="l">
              <a:spcBef>
                <a:spcPts val="1400"/>
              </a:spcBef>
              <a:spcAft>
                <a:spcPts val="800"/>
              </a:spcAft>
            </a:pPr>
            <a:r>
              <a:t>  </a:t>
            </a:r>
            <a:r>
              <a:rPr sz="1300" b="0">
                <a:solidFill>
                  <a:srgbClr val="0C3335"/>
                </a:solidFill>
                <a:latin typeface="Open Sans"/>
              </a:rPr>
              <a:t>You have to </a:t>
            </a:r>
            <a:r>
              <a:rPr sz="1300" b="1">
                <a:solidFill>
                  <a:srgbClr val="0C3335"/>
                </a:solidFill>
                <a:latin typeface="Open Sans"/>
              </a:rPr>
              <a:t>negotiate</a:t>
            </a:r>
            <a:r>
              <a:rPr sz="1300" b="0">
                <a:solidFill>
                  <a:srgbClr val="0C3335"/>
                </a:solidFill>
                <a:latin typeface="Open Sans"/>
              </a:rPr>
              <a:t> for it — ask your agent to ask.</a:t>
            </a:r>
          </a:p>
        </p:txBody>
      </p:sp>
      <p:sp>
        <p:nvSpPr>
          <p:cNvPr id="6" name="Rectangle 5">
            <a:hlinkClick action="ppaction://hlinksldjump" r:id="rId2"/>
          </p:cNvPr>
          <p:cNvSpPr/>
          <p:nvPr/>
        </p:nvSpPr>
        <p:spPr>
          <a:xfrm>
            <a:off x="609584" y="6096020"/>
            <a:ext cx="1523961" cy="457188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‹  Back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904952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84" y="355591"/>
            <a:ext cx="9702559" cy="13969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8CC63E"/>
                </a:solidFill>
                <a:latin typeface="Montserrat"/>
              </a:rPr>
              <a:t>WHERE IT COMES FROM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Montserrat"/>
              </a:rPr>
              <a:t>2-1 Buydowns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587460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2285942"/>
            <a:ext cx="10972527" cy="4444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C3335"/>
                </a:solidFill>
                <a:latin typeface="Montserrat"/>
              </a:rPr>
              <a:t>How it works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A </a:t>
            </a:r>
            <a:r>
              <a:rPr sz="1300" b="1">
                <a:solidFill>
                  <a:srgbClr val="404041"/>
                </a:solidFill>
                <a:latin typeface="Open Sans"/>
              </a:rPr>
              <a:t>temporary</a:t>
            </a:r>
            <a:r>
              <a:rPr sz="1300" b="0">
                <a:solidFill>
                  <a:srgbClr val="404041"/>
                </a:solidFill>
                <a:latin typeface="Open Sans"/>
              </a:rPr>
              <a:t> payment reduction for the first two years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Usually paid by the </a:t>
            </a:r>
            <a:r>
              <a:rPr sz="1300" b="1">
                <a:solidFill>
                  <a:srgbClr val="404041"/>
                </a:solidFill>
                <a:latin typeface="Open Sans"/>
              </a:rPr>
              <a:t>seller or builder</a:t>
            </a:r>
            <a:r>
              <a:rPr sz="1300" b="0">
                <a:solidFill>
                  <a:srgbClr val="404041"/>
                </a:solidFill>
                <a:latin typeface="Open Sans"/>
              </a:rPr>
              <a:t>, not you</a:t>
            </a:r>
          </a:p>
          <a:p>
            <a:pPr algn="l">
              <a:spcBef>
                <a:spcPts val="1800"/>
              </a:spcBef>
              <a:spcAft>
                <a:spcPts val="1000"/>
              </a:spcAft>
            </a:pPr>
            <a:r>
              <a:rPr sz="1100" b="1">
                <a:solidFill>
                  <a:srgbClr val="404041"/>
                </a:solidFill>
                <a:latin typeface="Montserrat"/>
              </a:rPr>
              <a:t>–  The catch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04041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You qualify at the </a:t>
            </a:r>
            <a:r>
              <a:rPr sz="1300" b="1">
                <a:solidFill>
                  <a:srgbClr val="404041"/>
                </a:solidFill>
                <a:latin typeface="Open Sans"/>
              </a:rPr>
              <a:t>real rate</a:t>
            </a:r>
            <a:r>
              <a:rPr sz="1300" b="0">
                <a:solidFill>
                  <a:srgbClr val="404041"/>
                </a:solidFill>
                <a:latin typeface="Open Sans"/>
              </a:rPr>
              <a:t> — full payment in year three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04041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A plan to refinance first depends on rates nobody controls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584" y="5524534"/>
            <a:ext cx="10972527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A7370"/>
                </a:solidFill>
                <a:latin typeface="Open Sans"/>
              </a:rPr>
              <a:t>General guidelines only. Actual eligibility depends on full underwriting, credit, property, and lender overlays.</a:t>
            </a:r>
          </a:p>
        </p:txBody>
      </p:sp>
      <p:sp>
        <p:nvSpPr>
          <p:cNvPr id="7" name="Rectangle 6">
            <a:hlinkClick action="ppaction://hlinksldjump" r:id="rId2"/>
          </p:cNvPr>
          <p:cNvSpPr/>
          <p:nvPr/>
        </p:nvSpPr>
        <p:spPr>
          <a:xfrm>
            <a:off x="609584" y="6096020"/>
            <a:ext cx="1523961" cy="457188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‹  Back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904952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84" y="355591"/>
            <a:ext cx="9702559" cy="13969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8CC63E"/>
                </a:solidFill>
                <a:latin typeface="Montserrat"/>
              </a:rPr>
              <a:t>WHERE IT COMES FROM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Montserrat"/>
              </a:rPr>
              <a:t>Agent Credits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587460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2285942"/>
            <a:ext cx="10972527" cy="4444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C3335"/>
                </a:solidFill>
                <a:latin typeface="Montserrat"/>
              </a:rPr>
              <a:t>The rules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An agent may contribute part of their commission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Must be </a:t>
            </a:r>
            <a:r>
              <a:rPr sz="1300" b="1">
                <a:solidFill>
                  <a:srgbClr val="404041"/>
                </a:solidFill>
                <a:latin typeface="Open Sans"/>
              </a:rPr>
              <a:t>disclosed</a:t>
            </a:r>
            <a:r>
              <a:rPr sz="1300" b="0">
                <a:solidFill>
                  <a:srgbClr val="404041"/>
                </a:solidFill>
                <a:latin typeface="Open Sans"/>
              </a:rPr>
              <a:t> and appear on closing documents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Counts toward overall contribution limits</a:t>
            </a:r>
          </a:p>
          <a:p>
            <a:pPr algn="l">
              <a:spcBef>
                <a:spcPts val="1400"/>
              </a:spcBef>
              <a:spcAft>
                <a:spcPts val="800"/>
              </a:spcAft>
            </a:pPr>
            <a:r>
              <a:t>  </a:t>
            </a:r>
            <a:r>
              <a:rPr sz="1300" b="0">
                <a:solidFill>
                  <a:srgbClr val="0C3335"/>
                </a:solidFill>
                <a:latin typeface="Open Sans"/>
              </a:rPr>
              <a:t>Ask early — it can’t be added at the closing table.</a:t>
            </a:r>
          </a:p>
        </p:txBody>
      </p:sp>
      <p:sp>
        <p:nvSpPr>
          <p:cNvPr id="6" name="Rectangle 5">
            <a:hlinkClick action="ppaction://hlinksldjump" r:id="rId2"/>
          </p:cNvPr>
          <p:cNvSpPr/>
          <p:nvPr/>
        </p:nvSpPr>
        <p:spPr>
          <a:xfrm>
            <a:off x="609584" y="6096020"/>
            <a:ext cx="1523961" cy="457188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‹  Back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904952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84" y="355591"/>
            <a:ext cx="9702559" cy="13969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8CC63E"/>
                </a:solidFill>
                <a:latin typeface="Montserrat"/>
              </a:rPr>
              <a:t>WHERE IT COMES FROM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Montserrat"/>
              </a:rPr>
              <a:t>Down Payment Assistance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587460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2285942"/>
            <a:ext cx="10972527" cy="4444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C3335"/>
                </a:solidFill>
                <a:latin typeface="Montserrat"/>
              </a:rPr>
              <a:t>What it is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Grants or second mortgages that reduce cash to close</a:t>
            </a:r>
          </a:p>
          <a:p>
            <a:pPr algn="l">
              <a:spcBef>
                <a:spcPts val="1800"/>
              </a:spcBef>
              <a:spcAft>
                <a:spcPts val="1000"/>
              </a:spcAft>
            </a:pPr>
            <a:r>
              <a:rPr sz="1100" b="1">
                <a:solidFill>
                  <a:srgbClr val="404041"/>
                </a:solidFill>
                <a:latin typeface="Montserrat"/>
              </a:rPr>
              <a:t>–  The trade-offs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04041"/>
                </a:solidFill>
                <a:latin typeface="Open Sans"/>
              </a:rPr>
              <a:t>■  </a:t>
            </a:r>
            <a:r>
              <a:rPr sz="1300" b="1">
                <a:solidFill>
                  <a:srgbClr val="404041"/>
                </a:solidFill>
                <a:latin typeface="Open Sans"/>
              </a:rPr>
              <a:t>Complicates the process</a:t>
            </a:r>
            <a:r>
              <a:rPr sz="1300" b="0">
                <a:solidFill>
                  <a:srgbClr val="404041"/>
                </a:solidFill>
                <a:latin typeface="Open Sans"/>
              </a:rPr>
              <a:t> — extra underwriting and timelines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04041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Often makes your offer </a:t>
            </a:r>
            <a:r>
              <a:rPr sz="1300" b="1">
                <a:solidFill>
                  <a:srgbClr val="404041"/>
                </a:solidFill>
                <a:latin typeface="Open Sans"/>
              </a:rPr>
              <a:t>less attractive</a:t>
            </a:r>
            <a:r>
              <a:rPr sz="1300" b="0">
                <a:solidFill>
                  <a:srgbClr val="404041"/>
                </a:solidFill>
                <a:latin typeface="Open Sans"/>
              </a:rPr>
              <a:t> to sellers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04041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Usually a </a:t>
            </a:r>
            <a:r>
              <a:rPr sz="1300" b="1">
                <a:solidFill>
                  <a:srgbClr val="404041"/>
                </a:solidFill>
                <a:latin typeface="Open Sans"/>
              </a:rPr>
              <a:t>higher rate</a:t>
            </a:r>
            <a:r>
              <a:rPr sz="1300" b="0">
                <a:solidFill>
                  <a:srgbClr val="404041"/>
                </a:solidFill>
                <a:latin typeface="Open Sans"/>
              </a:rPr>
              <a:t>, caps, and fine print</a:t>
            </a:r>
          </a:p>
          <a:p>
            <a:pPr algn="l">
              <a:spcBef>
                <a:spcPts val="1400"/>
              </a:spcBef>
              <a:spcAft>
                <a:spcPts val="800"/>
              </a:spcAft>
            </a:pPr>
            <a:r>
              <a:t>  </a:t>
            </a:r>
            <a:r>
              <a:rPr sz="1300" b="0">
                <a:solidFill>
                  <a:srgbClr val="0C3335"/>
                </a:solidFill>
                <a:latin typeface="Open Sans"/>
              </a:rPr>
              <a:t>Sometimes it clearly wins. Run it against the higher rate before deciding.</a:t>
            </a:r>
          </a:p>
        </p:txBody>
      </p:sp>
      <p:sp>
        <p:nvSpPr>
          <p:cNvPr id="6" name="Rectangle 5">
            <a:hlinkClick action="ppaction://hlinksldjump" r:id="rId2"/>
          </p:cNvPr>
          <p:cNvSpPr/>
          <p:nvPr/>
        </p:nvSpPr>
        <p:spPr>
          <a:xfrm>
            <a:off x="609584" y="6096020"/>
            <a:ext cx="1523961" cy="457188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‹  Back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904952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84" y="355591"/>
            <a:ext cx="9702559" cy="13969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8CC63E"/>
                </a:solidFill>
                <a:latin typeface="Montserrat"/>
              </a:rPr>
              <a:t>YOUR TEAM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Montserrat"/>
              </a:rPr>
              <a:t>Lender / Loan Officer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587460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2285942"/>
            <a:ext cx="10972527" cy="4444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C3335"/>
                </a:solidFill>
                <a:latin typeface="Montserrat"/>
              </a:rPr>
              <a:t>What they do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Structures your financing and guides you from pre-approval to closing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Packages the file and advocates for it</a:t>
            </a:r>
          </a:p>
          <a:p>
            <a:pPr algn="l">
              <a:spcBef>
                <a:spcPts val="1400"/>
              </a:spcBef>
              <a:spcAft>
                <a:spcPts val="800"/>
              </a:spcAft>
            </a:pPr>
            <a:r>
              <a:t>  </a:t>
            </a:r>
            <a:r>
              <a:rPr sz="1300" b="0">
                <a:solidFill>
                  <a:srgbClr val="0C3335"/>
                </a:solidFill>
                <a:latin typeface="Open Sans"/>
              </a:rPr>
              <a:t>We don’t approve the loan — </a:t>
            </a:r>
            <a:r>
              <a:rPr sz="1300" b="1">
                <a:solidFill>
                  <a:srgbClr val="0C3335"/>
                </a:solidFill>
                <a:latin typeface="Open Sans"/>
              </a:rPr>
              <a:t>the underwriter does.</a:t>
            </a:r>
          </a:p>
        </p:txBody>
      </p:sp>
      <p:sp>
        <p:nvSpPr>
          <p:cNvPr id="6" name="Rectangle 5">
            <a:hlinkClick action="ppaction://hlinksldjump" r:id="rId2"/>
          </p:cNvPr>
          <p:cNvSpPr/>
          <p:nvPr/>
        </p:nvSpPr>
        <p:spPr>
          <a:xfrm>
            <a:off x="609584" y="6096020"/>
            <a:ext cx="1523961" cy="457188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‹  Back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904952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84" y="355591"/>
            <a:ext cx="9702559" cy="13969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8CC63E"/>
                </a:solidFill>
                <a:latin typeface="Montserrat"/>
              </a:rPr>
              <a:t>YOUR TEAM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Montserrat"/>
              </a:rPr>
              <a:t>Realtor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587460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2285942"/>
            <a:ext cx="10972527" cy="4444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C3335"/>
                </a:solidFill>
                <a:latin typeface="Montserrat"/>
              </a:rPr>
              <a:t>What they do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Finds homes, writes and negotiates your offer, manages deadlines</a:t>
            </a:r>
          </a:p>
          <a:p>
            <a:pPr algn="l">
              <a:spcBef>
                <a:spcPts val="1400"/>
              </a:spcBef>
              <a:spcAft>
                <a:spcPts val="800"/>
              </a:spcAft>
            </a:pPr>
            <a:r>
              <a:t>  </a:t>
            </a:r>
            <a:r>
              <a:rPr sz="1300" b="0">
                <a:solidFill>
                  <a:srgbClr val="0C3335"/>
                </a:solidFill>
                <a:latin typeface="Open Sans"/>
              </a:rPr>
              <a:t>The listing agent works for the </a:t>
            </a:r>
            <a:r>
              <a:rPr sz="1300" b="1">
                <a:solidFill>
                  <a:srgbClr val="0C3335"/>
                </a:solidFill>
                <a:latin typeface="Open Sans"/>
              </a:rPr>
              <a:t>seller</a:t>
            </a:r>
            <a:r>
              <a:rPr sz="1300" b="0">
                <a:solidFill>
                  <a:srgbClr val="0C3335"/>
                </a:solidFill>
                <a:latin typeface="Open Sans"/>
              </a:rPr>
              <a:t>. Yours works for you — ask how they’re paid.</a:t>
            </a:r>
          </a:p>
        </p:txBody>
      </p:sp>
      <p:sp>
        <p:nvSpPr>
          <p:cNvPr id="6" name="Rectangle 5">
            <a:hlinkClick action="ppaction://hlinksldjump" r:id="rId2"/>
          </p:cNvPr>
          <p:cNvSpPr/>
          <p:nvPr/>
        </p:nvSpPr>
        <p:spPr>
          <a:xfrm>
            <a:off x="609584" y="6096020"/>
            <a:ext cx="1523961" cy="457188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‹  Back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904952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84" y="355591"/>
            <a:ext cx="9702559" cy="13969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8CC63E"/>
                </a:solidFill>
                <a:latin typeface="Montserrat"/>
              </a:rPr>
              <a:t>YOUR TEAM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Montserrat"/>
              </a:rPr>
              <a:t>Seller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587460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2285942"/>
            <a:ext cx="10972527" cy="4444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C3335"/>
                </a:solidFill>
                <a:latin typeface="Montserrat"/>
              </a:rPr>
              <a:t>What they do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Owns the home; their motivation shapes what’s negotiable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You almost never deal with them directly — it runs through agents</a:t>
            </a:r>
          </a:p>
          <a:p>
            <a:pPr algn="l">
              <a:spcBef>
                <a:spcPts val="1400"/>
              </a:spcBef>
              <a:spcAft>
                <a:spcPts val="800"/>
              </a:spcAft>
            </a:pPr>
            <a:r>
              <a:t>  </a:t>
            </a:r>
            <a:r>
              <a:rPr sz="1300" b="0">
                <a:solidFill>
                  <a:srgbClr val="0C3335"/>
                </a:solidFill>
                <a:latin typeface="Open Sans"/>
              </a:rPr>
              <a:t>Sometimes </a:t>
            </a:r>
            <a:r>
              <a:rPr sz="1300" b="1">
                <a:solidFill>
                  <a:srgbClr val="0C3335"/>
                </a:solidFill>
                <a:latin typeface="Open Sans"/>
              </a:rPr>
              <a:t>timing or certainty</a:t>
            </a:r>
            <a:r>
              <a:rPr sz="1300" b="0">
                <a:solidFill>
                  <a:srgbClr val="0C3335"/>
                </a:solidFill>
                <a:latin typeface="Open Sans"/>
              </a:rPr>
              <a:t> matters to them more than top price.</a:t>
            </a:r>
          </a:p>
        </p:txBody>
      </p:sp>
      <p:sp>
        <p:nvSpPr>
          <p:cNvPr id="6" name="Rectangle 5">
            <a:hlinkClick action="ppaction://hlinksldjump" r:id="rId2"/>
          </p:cNvPr>
          <p:cNvSpPr/>
          <p:nvPr/>
        </p:nvSpPr>
        <p:spPr>
          <a:xfrm>
            <a:off x="609584" y="6096020"/>
            <a:ext cx="1523961" cy="457188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‹  Back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904952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84" y="355591"/>
            <a:ext cx="9702559" cy="13969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8CC63E"/>
                </a:solidFill>
                <a:latin typeface="Montserrat"/>
              </a:rPr>
              <a:t>YOUR TEAM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Montserrat"/>
              </a:rPr>
              <a:t>Underwriter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587460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2285942"/>
            <a:ext cx="10972527" cy="4444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C3335"/>
                </a:solidFill>
                <a:latin typeface="Montserrat"/>
              </a:rPr>
              <a:t>What they do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Makes the actual decision against program guidelines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You’ll </a:t>
            </a:r>
            <a:r>
              <a:rPr sz="1300" b="1">
                <a:solidFill>
                  <a:srgbClr val="404041"/>
                </a:solidFill>
                <a:latin typeface="Open Sans"/>
              </a:rPr>
              <a:t>never deal with them directly</a:t>
            </a:r>
          </a:p>
          <a:p>
            <a:pPr algn="l">
              <a:spcBef>
                <a:spcPts val="1400"/>
              </a:spcBef>
              <a:spcAft>
                <a:spcPts val="800"/>
              </a:spcAft>
            </a:pPr>
            <a:r>
              <a:t>  </a:t>
            </a:r>
            <a:r>
              <a:rPr sz="1300" b="0">
                <a:solidFill>
                  <a:srgbClr val="0C3335"/>
                </a:solidFill>
                <a:latin typeface="Open Sans"/>
              </a:rPr>
              <a:t>Not looking for a reason to say no — documenting a reason to say yes.</a:t>
            </a:r>
          </a:p>
        </p:txBody>
      </p:sp>
      <p:sp>
        <p:nvSpPr>
          <p:cNvPr id="6" name="Rectangle 5">
            <a:hlinkClick action="ppaction://hlinksldjump" r:id="rId2"/>
          </p:cNvPr>
          <p:cNvSpPr/>
          <p:nvPr/>
        </p:nvSpPr>
        <p:spPr>
          <a:xfrm>
            <a:off x="609584" y="6096020"/>
            <a:ext cx="1523961" cy="457188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‹  Back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904952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84" y="355591"/>
            <a:ext cx="9702559" cy="13969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8CC63E"/>
                </a:solidFill>
                <a:latin typeface="Montserrat"/>
              </a:rPr>
              <a:t>YOUR TEAM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Montserrat"/>
              </a:rPr>
              <a:t>Title Company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587460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2285942"/>
            <a:ext cx="10972527" cy="4444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C3335"/>
                </a:solidFill>
                <a:latin typeface="Montserrat"/>
              </a:rPr>
              <a:t>What they do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Researches ownership, clears liens, issues title insurance, holds funds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Neutral to both sides</a:t>
            </a:r>
          </a:p>
          <a:p>
            <a:pPr algn="l">
              <a:spcBef>
                <a:spcPts val="1400"/>
              </a:spcBef>
              <a:spcAft>
                <a:spcPts val="800"/>
              </a:spcAft>
            </a:pPr>
            <a:r>
              <a:t>  </a:t>
            </a:r>
            <a:r>
              <a:rPr sz="1300" b="0">
                <a:solidFill>
                  <a:srgbClr val="0C3335"/>
                </a:solidFill>
                <a:latin typeface="Open Sans"/>
              </a:rPr>
              <a:t>You can often </a:t>
            </a:r>
            <a:r>
              <a:rPr sz="1300" b="1">
                <a:solidFill>
                  <a:srgbClr val="0C3335"/>
                </a:solidFill>
                <a:latin typeface="Open Sans"/>
              </a:rPr>
              <a:t>shop</a:t>
            </a:r>
            <a:r>
              <a:rPr sz="1300" b="0">
                <a:solidFill>
                  <a:srgbClr val="0C3335"/>
                </a:solidFill>
                <a:latin typeface="Open Sans"/>
              </a:rPr>
              <a:t> for them — most people never do.</a:t>
            </a:r>
          </a:p>
        </p:txBody>
      </p:sp>
      <p:sp>
        <p:nvSpPr>
          <p:cNvPr id="6" name="Rectangle 5">
            <a:hlinkClick action="ppaction://hlinksldjump" r:id="rId2"/>
          </p:cNvPr>
          <p:cNvSpPr/>
          <p:nvPr/>
        </p:nvSpPr>
        <p:spPr>
          <a:xfrm>
            <a:off x="609584" y="6096020"/>
            <a:ext cx="1523961" cy="457188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‹  Back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904952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84" y="355591"/>
            <a:ext cx="9702559" cy="13969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8CC63E"/>
                </a:solidFill>
                <a:latin typeface="Montserrat"/>
              </a:rPr>
              <a:t>YOUR TEAM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Montserrat"/>
              </a:rPr>
              <a:t>Closer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587460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2285942"/>
            <a:ext cx="10972527" cy="4444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C3335"/>
                </a:solidFill>
                <a:latin typeface="Montserrat"/>
              </a:rPr>
              <a:t>What they do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Runs the signing, walks you through documents, moves the funds</a:t>
            </a:r>
          </a:p>
          <a:p>
            <a:pPr algn="l">
              <a:spcBef>
                <a:spcPts val="1400"/>
              </a:spcBef>
              <a:spcAft>
                <a:spcPts val="800"/>
              </a:spcAft>
            </a:pPr>
            <a:r>
              <a:t>  </a:t>
            </a:r>
            <a:r>
              <a:rPr sz="1300" b="0">
                <a:solidFill>
                  <a:srgbClr val="0C3335"/>
                </a:solidFill>
                <a:latin typeface="Open Sans"/>
              </a:rPr>
              <a:t>Budget an hour. Read what you sign and ask about anything unclear.</a:t>
            </a:r>
          </a:p>
        </p:txBody>
      </p:sp>
      <p:sp>
        <p:nvSpPr>
          <p:cNvPr id="6" name="Rectangle 5">
            <a:hlinkClick action="ppaction://hlinksldjump" r:id="rId2"/>
          </p:cNvPr>
          <p:cNvSpPr/>
          <p:nvPr/>
        </p:nvSpPr>
        <p:spPr>
          <a:xfrm>
            <a:off x="609584" y="6096020"/>
            <a:ext cx="1523961" cy="457188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‹  Back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904952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84" y="355591"/>
            <a:ext cx="9702559" cy="13969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8CC63E"/>
                </a:solidFill>
                <a:latin typeface="Montserrat"/>
              </a:rPr>
              <a:t>YOUR TEAM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Montserrat"/>
              </a:rPr>
              <a:t>Insurance 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587460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2285942"/>
            <a:ext cx="10972527" cy="4444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C3335"/>
                </a:solidFill>
                <a:latin typeface="Montserrat"/>
              </a:rPr>
              <a:t>What they do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Places your homeowners policy, required before closing</a:t>
            </a:r>
          </a:p>
          <a:p>
            <a:pPr algn="l">
              <a:spcBef>
                <a:spcPts val="1400"/>
              </a:spcBef>
              <a:spcAft>
                <a:spcPts val="800"/>
              </a:spcAft>
            </a:pPr>
            <a:r>
              <a:t>  </a:t>
            </a:r>
            <a:r>
              <a:rPr sz="1300" b="1">
                <a:solidFill>
                  <a:srgbClr val="0C3335"/>
                </a:solidFill>
                <a:latin typeface="Open Sans"/>
              </a:rPr>
              <a:t>Start early.</a:t>
            </a:r>
            <a:r>
              <a:rPr sz="1300" b="0">
                <a:solidFill>
                  <a:srgbClr val="0C3335"/>
                </a:solidFill>
                <a:latin typeface="Open Sans"/>
              </a:rPr>
              <a:t> Premiums vary widely and a high one can affect qualifying.</a:t>
            </a:r>
          </a:p>
        </p:txBody>
      </p:sp>
      <p:sp>
        <p:nvSpPr>
          <p:cNvPr id="6" name="Rectangle 5">
            <a:hlinkClick action="ppaction://hlinksldjump" r:id="rId2"/>
          </p:cNvPr>
          <p:cNvSpPr/>
          <p:nvPr/>
        </p:nvSpPr>
        <p:spPr>
          <a:xfrm>
            <a:off x="609584" y="6096020"/>
            <a:ext cx="1523961" cy="457188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‹  Back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904952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84" y="355591"/>
            <a:ext cx="9702559" cy="13969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8CC63E"/>
                </a:solidFill>
                <a:latin typeface="Montserrat"/>
              </a:rPr>
              <a:t>YOUR TEAM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Montserrat"/>
              </a:rPr>
              <a:t>Processor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587460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2285942"/>
            <a:ext cx="10972527" cy="4444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C3335"/>
                </a:solidFill>
                <a:latin typeface="Montserrat"/>
              </a:rPr>
              <a:t>What they do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Collects your documents, orders appraisal and title, preps the file</a:t>
            </a:r>
          </a:p>
          <a:p>
            <a:pPr algn="l">
              <a:spcBef>
                <a:spcPts val="1400"/>
              </a:spcBef>
              <a:spcAft>
                <a:spcPts val="800"/>
              </a:spcAft>
            </a:pPr>
            <a:r>
              <a:t>  </a:t>
            </a:r>
            <a:r>
              <a:rPr sz="1300" b="0">
                <a:solidFill>
                  <a:srgbClr val="0C3335"/>
                </a:solidFill>
                <a:latin typeface="Open Sans"/>
              </a:rPr>
              <a:t>Being asked twice isn’t a lost document — </a:t>
            </a:r>
            <a:r>
              <a:rPr sz="1300" b="1">
                <a:solidFill>
                  <a:srgbClr val="0C3335"/>
                </a:solidFill>
                <a:latin typeface="Open Sans"/>
              </a:rPr>
              <a:t>send it again same-day.</a:t>
            </a:r>
          </a:p>
        </p:txBody>
      </p:sp>
      <p:sp>
        <p:nvSpPr>
          <p:cNvPr id="6" name="Rectangle 5">
            <a:hlinkClick action="ppaction://hlinksldjump" r:id="rId2"/>
          </p:cNvPr>
          <p:cNvSpPr/>
          <p:nvPr/>
        </p:nvSpPr>
        <p:spPr>
          <a:xfrm>
            <a:off x="609584" y="6096020"/>
            <a:ext cx="1523961" cy="457188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‹  Back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904952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84" y="355591"/>
            <a:ext cx="9702559" cy="13969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8CC63E"/>
                </a:solidFill>
                <a:latin typeface="Montserrat"/>
              </a:rPr>
              <a:t>SMALL ASSUMPTION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ontserrat"/>
              </a:rPr>
              <a:t>"I’ll get pre-approved once I find a house"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587460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2285942"/>
            <a:ext cx="10972527" cy="4444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C3335"/>
                </a:solidFill>
                <a:latin typeface="Montserrat"/>
              </a:rPr>
              <a:t>What actually happens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The house goes under contract while you’re getting a letter</a:t>
            </a:r>
          </a:p>
          <a:p>
            <a:pPr algn="l">
              <a:spcBef>
                <a:spcPts val="1800"/>
              </a:spcBef>
              <a:spcAft>
                <a:spcPts val="1000"/>
              </a:spcAft>
            </a:pPr>
            <a:r>
              <a:rPr sz="1100" b="1">
                <a:solidFill>
                  <a:srgbClr val="4B7B4D"/>
                </a:solidFill>
                <a:latin typeface="Montserrat"/>
              </a:rPr>
              <a:t>+  Do instead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B7B4D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Pre-approval </a:t>
            </a:r>
            <a:r>
              <a:rPr sz="1300" b="1">
                <a:solidFill>
                  <a:srgbClr val="404041"/>
                </a:solidFill>
                <a:latin typeface="Open Sans"/>
              </a:rPr>
              <a:t>first</a:t>
            </a:r>
            <a:r>
              <a:rPr sz="1300" b="0">
                <a:solidFill>
                  <a:srgbClr val="404041"/>
                </a:solidFill>
                <a:latin typeface="Open Sans"/>
              </a:rPr>
              <a:t> — it’s free and nothing is committed</a:t>
            </a:r>
          </a:p>
        </p:txBody>
      </p:sp>
      <p:sp>
        <p:nvSpPr>
          <p:cNvPr id="6" name="Rectangle 5">
            <a:hlinkClick action="ppaction://hlinksldjump" r:id="rId2"/>
          </p:cNvPr>
          <p:cNvSpPr/>
          <p:nvPr/>
        </p:nvSpPr>
        <p:spPr>
          <a:xfrm>
            <a:off x="609584" y="6096020"/>
            <a:ext cx="1523961" cy="457188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‹  Back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904952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84" y="355591"/>
            <a:ext cx="9702559" cy="13969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8CC63E"/>
                </a:solidFill>
                <a:latin typeface="Montserrat"/>
              </a:rPr>
              <a:t>SMALL ASSUMPTION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ontserrat"/>
              </a:rPr>
              <a:t>"They’re all the same, I’ll use one lender"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587460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2285942"/>
            <a:ext cx="10972527" cy="4444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C3335"/>
                </a:solidFill>
                <a:latin typeface="Montserrat"/>
              </a:rPr>
              <a:t>What actually happens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Lender fees vary by thousands at the identical rate</a:t>
            </a:r>
          </a:p>
          <a:p>
            <a:pPr algn="l">
              <a:spcBef>
                <a:spcPts val="1800"/>
              </a:spcBef>
              <a:spcAft>
                <a:spcPts val="1000"/>
              </a:spcAft>
            </a:pPr>
            <a:r>
              <a:rPr sz="1100" b="1">
                <a:solidFill>
                  <a:srgbClr val="4B7B4D"/>
                </a:solidFill>
                <a:latin typeface="Montserrat"/>
              </a:rPr>
              <a:t>+  Do instead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B7B4D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Get more than one Loan Estimate the </a:t>
            </a:r>
            <a:r>
              <a:rPr sz="1300" b="1">
                <a:solidFill>
                  <a:srgbClr val="404041"/>
                </a:solidFill>
                <a:latin typeface="Open Sans"/>
              </a:rPr>
              <a:t>same day</a:t>
            </a:r>
            <a:r>
              <a:rPr sz="1300" b="0">
                <a:solidFill>
                  <a:srgbClr val="404041"/>
                </a:solidFill>
                <a:latin typeface="Open Sans"/>
              </a:rPr>
              <a:t> and compare fees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B7B4D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Shopping inside the window counts as one credit pull</a:t>
            </a:r>
          </a:p>
        </p:txBody>
      </p:sp>
      <p:sp>
        <p:nvSpPr>
          <p:cNvPr id="6" name="Rectangle 5">
            <a:hlinkClick action="ppaction://hlinksldjump" r:id="rId2"/>
          </p:cNvPr>
          <p:cNvSpPr/>
          <p:nvPr/>
        </p:nvSpPr>
        <p:spPr>
          <a:xfrm>
            <a:off x="609584" y="6096020"/>
            <a:ext cx="1523961" cy="457188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‹  Back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904952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84" y="355591"/>
            <a:ext cx="9702559" cy="13969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8CC63E"/>
                </a:solidFill>
                <a:latin typeface="Montserrat"/>
              </a:rPr>
              <a:t>SMALL ASSUMPTION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ontserrat"/>
              </a:rPr>
              <a:t>"Closing costs are what I need at closing"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587460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2285942"/>
            <a:ext cx="10972527" cy="4444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C3335"/>
                </a:solidFill>
                <a:latin typeface="Montserrat"/>
              </a:rPr>
              <a:t>What actually happens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You arrive short — cash to close also has down payment, prepaids, escrows, reserves</a:t>
            </a:r>
          </a:p>
          <a:p>
            <a:pPr algn="l">
              <a:spcBef>
                <a:spcPts val="1800"/>
              </a:spcBef>
              <a:spcAft>
                <a:spcPts val="1000"/>
              </a:spcAft>
            </a:pPr>
            <a:r>
              <a:rPr sz="1100" b="1">
                <a:solidFill>
                  <a:srgbClr val="4B7B4D"/>
                </a:solidFill>
                <a:latin typeface="Montserrat"/>
              </a:rPr>
              <a:t>+  Do instead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B7B4D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Plan around </a:t>
            </a:r>
            <a:r>
              <a:rPr sz="1300" b="1">
                <a:solidFill>
                  <a:srgbClr val="404041"/>
                </a:solidFill>
                <a:latin typeface="Open Sans"/>
              </a:rPr>
              <a:t>Cash to Close</a:t>
            </a:r>
            <a:r>
              <a:rPr sz="1300" b="0">
                <a:solidFill>
                  <a:srgbClr val="404041"/>
                </a:solidFill>
                <a:latin typeface="Open Sans"/>
              </a:rPr>
              <a:t> on page one, not closing costs</a:t>
            </a:r>
          </a:p>
        </p:txBody>
      </p:sp>
      <p:sp>
        <p:nvSpPr>
          <p:cNvPr id="6" name="Rectangle 5">
            <a:hlinkClick action="ppaction://hlinksldjump" r:id="rId2"/>
          </p:cNvPr>
          <p:cNvSpPr/>
          <p:nvPr/>
        </p:nvSpPr>
        <p:spPr>
          <a:xfrm>
            <a:off x="609584" y="6096020"/>
            <a:ext cx="1523961" cy="457188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‹  Back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904952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84" y="355591"/>
            <a:ext cx="9702559" cy="13969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8CC63E"/>
                </a:solidFill>
                <a:latin typeface="Montserrat"/>
              </a:rPr>
              <a:t>SMALL ASSUMPTION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Montserrat"/>
              </a:rPr>
              <a:t>"I’m approved, so I’m done"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587460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2285942"/>
            <a:ext cx="10972527" cy="4444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C3335"/>
                </a:solidFill>
                <a:latin typeface="Montserrat"/>
              </a:rPr>
              <a:t>What actually happens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Lenders </a:t>
            </a:r>
            <a:r>
              <a:rPr sz="1300" b="1">
                <a:solidFill>
                  <a:srgbClr val="404041"/>
                </a:solidFill>
                <a:latin typeface="Open Sans"/>
              </a:rPr>
              <a:t>re-pull credit before closing</a:t>
            </a:r>
            <a:r>
              <a:rPr sz="1300" b="0">
                <a:solidFill>
                  <a:srgbClr val="404041"/>
                </a:solidFill>
                <a:latin typeface="Open Sans"/>
              </a:rPr>
              <a:t> — new debt can break the file</a:t>
            </a:r>
          </a:p>
          <a:p>
            <a:pPr algn="l">
              <a:spcBef>
                <a:spcPts val="1800"/>
              </a:spcBef>
              <a:spcAft>
                <a:spcPts val="1000"/>
              </a:spcAft>
            </a:pPr>
            <a:r>
              <a:rPr sz="1100" b="1">
                <a:solidFill>
                  <a:srgbClr val="4B7B4D"/>
                </a:solidFill>
                <a:latin typeface="Montserrat"/>
              </a:rPr>
              <a:t>+  Do instead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B7B4D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Change nothing until you have keys. If something must change, call first</a:t>
            </a:r>
          </a:p>
        </p:txBody>
      </p:sp>
      <p:sp>
        <p:nvSpPr>
          <p:cNvPr id="6" name="Rectangle 5">
            <a:hlinkClick action="ppaction://hlinksldjump" r:id="rId2"/>
          </p:cNvPr>
          <p:cNvSpPr/>
          <p:nvPr/>
        </p:nvSpPr>
        <p:spPr>
          <a:xfrm>
            <a:off x="609584" y="6096020"/>
            <a:ext cx="1523961" cy="457188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‹  Back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904952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84" y="355591"/>
            <a:ext cx="9702559" cy="13969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8CC63E"/>
                </a:solidFill>
                <a:latin typeface="Montserrat"/>
              </a:rPr>
              <a:t>SMALL ASSUMPTION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Montserrat"/>
              </a:rPr>
              <a:t>"I’ll wait until I have twenty percent"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587460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2285942"/>
            <a:ext cx="10972527" cy="4444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C3335"/>
                </a:solidFill>
                <a:latin typeface="Montserrat"/>
              </a:rPr>
              <a:t>What actually happens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The target rises while you save — and you pay rent the whole time</a:t>
            </a:r>
          </a:p>
          <a:p>
            <a:pPr algn="l">
              <a:spcBef>
                <a:spcPts val="1800"/>
              </a:spcBef>
              <a:spcAft>
                <a:spcPts val="1000"/>
              </a:spcAft>
            </a:pPr>
            <a:r>
              <a:rPr sz="1100" b="1">
                <a:solidFill>
                  <a:srgbClr val="4B7B4D"/>
                </a:solidFill>
                <a:latin typeface="Montserrat"/>
              </a:rPr>
              <a:t>+  Do instead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B7B4D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Run the comparison. Waiting should be a </a:t>
            </a:r>
            <a:r>
              <a:rPr sz="1300" b="1">
                <a:solidFill>
                  <a:srgbClr val="404041"/>
                </a:solidFill>
                <a:latin typeface="Open Sans"/>
              </a:rPr>
              <a:t>decision</a:t>
            </a:r>
            <a:r>
              <a:rPr sz="1300" b="0">
                <a:solidFill>
                  <a:srgbClr val="404041"/>
                </a:solidFill>
                <a:latin typeface="Open Sans"/>
              </a:rPr>
              <a:t>, not a default</a:t>
            </a:r>
          </a:p>
        </p:txBody>
      </p:sp>
      <p:sp>
        <p:nvSpPr>
          <p:cNvPr id="6" name="Rectangle 5">
            <a:hlinkClick action="ppaction://hlinksldjump" r:id="rId2"/>
          </p:cNvPr>
          <p:cNvSpPr/>
          <p:nvPr/>
        </p:nvSpPr>
        <p:spPr>
          <a:xfrm>
            <a:off x="609584" y="6096020"/>
            <a:ext cx="1523961" cy="457188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‹  Back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904952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84" y="355591"/>
            <a:ext cx="9702559" cy="13969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8CC63E"/>
                </a:solidFill>
                <a:latin typeface="Montserrat"/>
              </a:rPr>
              <a:t>SMALL ASSUMPTION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Montserrat"/>
              </a:rPr>
              <a:t>"The builder’s incentive is free money"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584" y="1587460"/>
            <a:ext cx="609584" cy="50798"/>
          </a:xfrm>
          <a:prstGeom prst="rect">
            <a:avLst/>
          </a:prstGeom>
          <a:solidFill>
            <a:srgbClr val="8CC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584" y="2285942"/>
            <a:ext cx="10972527" cy="4444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C3335"/>
                </a:solidFill>
                <a:latin typeface="Montserrat"/>
              </a:rPr>
              <a:t>What actually happens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8CC63E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It may be funded by a higher rate, higher fees, or a price set to pay for it</a:t>
            </a:r>
          </a:p>
          <a:p>
            <a:pPr algn="l">
              <a:spcBef>
                <a:spcPts val="1800"/>
              </a:spcBef>
              <a:spcAft>
                <a:spcPts val="1000"/>
              </a:spcAft>
            </a:pPr>
            <a:r>
              <a:rPr sz="1100" b="1">
                <a:solidFill>
                  <a:srgbClr val="4B7B4D"/>
                </a:solidFill>
                <a:latin typeface="Montserrat"/>
              </a:rPr>
              <a:t>+  Do instead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4B7B4D"/>
                </a:solidFill>
                <a:latin typeface="Open Sans"/>
              </a:rPr>
              <a:t>■  </a:t>
            </a:r>
            <a:r>
              <a:rPr sz="1300" b="0">
                <a:solidFill>
                  <a:srgbClr val="404041"/>
                </a:solidFill>
                <a:latin typeface="Open Sans"/>
              </a:rPr>
              <a:t>Take the builder’s Loan Estimate, get one from outside, and compare fees</a:t>
            </a:r>
          </a:p>
        </p:txBody>
      </p:sp>
      <p:sp>
        <p:nvSpPr>
          <p:cNvPr id="6" name="Rectangle 5">
            <a:hlinkClick action="ppaction://hlinksldjump" r:id="rId2"/>
          </p:cNvPr>
          <p:cNvSpPr/>
          <p:nvPr/>
        </p:nvSpPr>
        <p:spPr>
          <a:xfrm>
            <a:off x="609584" y="6096020"/>
            <a:ext cx="1523961" cy="457188"/>
          </a:xfrm>
          <a:prstGeom prst="rect">
            <a:avLst/>
          </a:prstGeom>
          <a:solidFill>
            <a:srgbClr val="0C3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‹  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